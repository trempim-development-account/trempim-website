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sldIdLst>
    <p:sldId id="256" r:id="rId5"/>
    <p:sldId id="257" r:id="rId6"/>
    <p:sldId id="258" r:id="rId7"/>
    <p:sldId id="261" r:id="rId8"/>
    <p:sldId id="259" r:id="rId9"/>
    <p:sldId id="260" r:id="rId10"/>
    <p:sldId id="265" r:id="rId11"/>
    <p:sldId id="262" r:id="rId12"/>
    <p:sldId id="266" r:id="rId13"/>
    <p:sldId id="263" r:id="rId14"/>
    <p:sldId id="267" r:id="rId15"/>
    <p:sldId id="264" r:id="rId16"/>
    <p:sldId id="268" r:id="rId17"/>
    <p:sldId id="269" r:id="rId18"/>
    <p:sldId id="270" r:id="rId19"/>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6327"/>
  </p:normalViewPr>
  <p:slideViewPr>
    <p:cSldViewPr snapToGrid="0">
      <p:cViewPr varScale="1">
        <p:scale>
          <a:sx n="153" d="100"/>
          <a:sy n="153" d="100"/>
        </p:scale>
        <p:origin x="43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95FB247B-F4EF-4230-9477-90D11262FB45}" type="datetimeFigureOut">
              <a:rPr lang="he-IL" smtClean="0"/>
              <a:t>י"ז/תשרי/תשפ"ו</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B03ACCAC-4A2C-4C18-A5F2-14A97CF13C72}" type="slidenum">
              <a:rPr lang="he-IL" smtClean="0"/>
              <a:t>‹#›</a:t>
            </a:fld>
            <a:endParaRPr lang="he-IL"/>
          </a:p>
        </p:txBody>
      </p:sp>
    </p:spTree>
    <p:extLst>
      <p:ext uri="{BB962C8B-B14F-4D97-AF65-F5344CB8AC3E}">
        <p14:creationId xmlns:p14="http://schemas.microsoft.com/office/powerpoint/2010/main" val="3608565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46C4D-6AE5-2818-19A1-F575267BD0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7BAF9539-D295-CF13-12FE-1CE3B343F0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7F815B00-9577-6ADB-E103-723C34119067}"/>
              </a:ext>
            </a:extLst>
          </p:cNvPr>
          <p:cNvSpPr>
            <a:spLocks noGrp="1"/>
          </p:cNvSpPr>
          <p:nvPr>
            <p:ph type="dt" sz="half" idx="10"/>
          </p:nvPr>
        </p:nvSpPr>
        <p:spPr/>
        <p:txBody>
          <a:bodyPr/>
          <a:lstStyle/>
          <a:p>
            <a:fld id="{B6DAA39A-9CCC-4E2F-AB6B-95C7C2BF8312}" type="datetime1">
              <a:rPr lang="LID4096" smtClean="0"/>
              <a:t>10/09/2025</a:t>
            </a:fld>
            <a:endParaRPr lang="en-IL"/>
          </a:p>
        </p:txBody>
      </p:sp>
      <p:sp>
        <p:nvSpPr>
          <p:cNvPr id="5" name="Footer Placeholder 4">
            <a:extLst>
              <a:ext uri="{FF2B5EF4-FFF2-40B4-BE49-F238E27FC236}">
                <a16:creationId xmlns:a16="http://schemas.microsoft.com/office/drawing/2014/main" id="{BD0A79D7-03C4-20F3-742D-B6CED549B47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93233-2EA2-4829-6445-D2A39BA85865}"/>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787492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B5722-2CC1-6C1B-D6CE-4388FC2CD9D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427EC026-26E4-26B5-894A-7BBF9D5D68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37A5FCE-DFE9-6949-D1D7-003C53FF8140}"/>
              </a:ext>
            </a:extLst>
          </p:cNvPr>
          <p:cNvSpPr>
            <a:spLocks noGrp="1"/>
          </p:cNvSpPr>
          <p:nvPr>
            <p:ph type="dt" sz="half" idx="10"/>
          </p:nvPr>
        </p:nvSpPr>
        <p:spPr/>
        <p:txBody>
          <a:bodyPr/>
          <a:lstStyle/>
          <a:p>
            <a:fld id="{A8C4A36B-3631-440E-BA6C-97291CC3334A}" type="datetime1">
              <a:rPr lang="LID4096" smtClean="0"/>
              <a:t>10/09/2025</a:t>
            </a:fld>
            <a:endParaRPr lang="en-IL"/>
          </a:p>
        </p:txBody>
      </p:sp>
      <p:sp>
        <p:nvSpPr>
          <p:cNvPr id="5" name="Footer Placeholder 4">
            <a:extLst>
              <a:ext uri="{FF2B5EF4-FFF2-40B4-BE49-F238E27FC236}">
                <a16:creationId xmlns:a16="http://schemas.microsoft.com/office/drawing/2014/main" id="{16EF1218-069F-2E3B-1F00-B287789C4616}"/>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9F98DAEB-62F9-E597-3201-BCC230937F20}"/>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054402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AF7A-C86B-7501-5646-AF29B0735E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D54C0CB0-58BB-7CF4-E7D0-1238187020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5063DC-B744-C4F7-AB71-396D5B4FE237}"/>
              </a:ext>
            </a:extLst>
          </p:cNvPr>
          <p:cNvSpPr>
            <a:spLocks noGrp="1"/>
          </p:cNvSpPr>
          <p:nvPr>
            <p:ph type="dt" sz="half" idx="10"/>
          </p:nvPr>
        </p:nvSpPr>
        <p:spPr/>
        <p:txBody>
          <a:bodyPr/>
          <a:lstStyle/>
          <a:p>
            <a:fld id="{BF213E00-FF41-4C92-AE76-C35D7CE14185}" type="datetime1">
              <a:rPr lang="LID4096" smtClean="0"/>
              <a:t>10/09/2025</a:t>
            </a:fld>
            <a:endParaRPr lang="en-IL"/>
          </a:p>
        </p:txBody>
      </p:sp>
      <p:sp>
        <p:nvSpPr>
          <p:cNvPr id="5" name="Footer Placeholder 4">
            <a:extLst>
              <a:ext uri="{FF2B5EF4-FFF2-40B4-BE49-F238E27FC236}">
                <a16:creationId xmlns:a16="http://schemas.microsoft.com/office/drawing/2014/main" id="{1CB1FD35-C457-7131-0D7C-B419680D240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FA9E4E0-72D6-1521-1321-DCB93669312C}"/>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2493397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B4B21-C61F-51F0-01D4-F03521EA29F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99235B2C-E26E-2F7D-D233-2A30E61F81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EDFECDE-9A7C-3FA1-6222-21EFF86970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4266E198-9BDD-F503-A60A-67BC58160DC1}"/>
              </a:ext>
            </a:extLst>
          </p:cNvPr>
          <p:cNvSpPr>
            <a:spLocks noGrp="1"/>
          </p:cNvSpPr>
          <p:nvPr>
            <p:ph type="dt" sz="half" idx="10"/>
          </p:nvPr>
        </p:nvSpPr>
        <p:spPr/>
        <p:txBody>
          <a:bodyPr/>
          <a:lstStyle/>
          <a:p>
            <a:fld id="{C040D95D-9344-4043-AE3C-375096CE389D}" type="datetime1">
              <a:rPr lang="LID4096" smtClean="0"/>
              <a:t>10/09/2025</a:t>
            </a:fld>
            <a:endParaRPr lang="en-IL"/>
          </a:p>
        </p:txBody>
      </p:sp>
      <p:sp>
        <p:nvSpPr>
          <p:cNvPr id="6" name="Footer Placeholder 5">
            <a:extLst>
              <a:ext uri="{FF2B5EF4-FFF2-40B4-BE49-F238E27FC236}">
                <a16:creationId xmlns:a16="http://schemas.microsoft.com/office/drawing/2014/main" id="{469CE2A5-B382-7332-9A69-5396A77315A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0DF4C44-958F-5361-EC83-AC5A15F74EC8}"/>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120367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DECD0-9F0F-CF05-0516-42511894436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12392A8-16C9-1169-25EB-29BFDC3972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87AF6B-CE3A-3E90-0C60-93BEA8E0D2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2EAB4E6B-9D8A-0D90-8468-B5D7F029D1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054DB6-17C4-6007-E324-6121B7CC48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6A1F47D8-2A9A-C7BD-1E1B-E78F2F961AB4}"/>
              </a:ext>
            </a:extLst>
          </p:cNvPr>
          <p:cNvSpPr>
            <a:spLocks noGrp="1"/>
          </p:cNvSpPr>
          <p:nvPr>
            <p:ph type="dt" sz="half" idx="10"/>
          </p:nvPr>
        </p:nvSpPr>
        <p:spPr/>
        <p:txBody>
          <a:bodyPr/>
          <a:lstStyle/>
          <a:p>
            <a:fld id="{C625D192-E361-4BF9-ABD7-56C9B68D6F72}" type="datetime1">
              <a:rPr lang="LID4096" smtClean="0"/>
              <a:t>10/09/2025</a:t>
            </a:fld>
            <a:endParaRPr lang="en-IL"/>
          </a:p>
        </p:txBody>
      </p:sp>
      <p:sp>
        <p:nvSpPr>
          <p:cNvPr id="8" name="Footer Placeholder 7">
            <a:extLst>
              <a:ext uri="{FF2B5EF4-FFF2-40B4-BE49-F238E27FC236}">
                <a16:creationId xmlns:a16="http://schemas.microsoft.com/office/drawing/2014/main" id="{62ACC8BF-06E8-2367-A56F-E88DB07BEA0A}"/>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172A5A3-C03D-F3A3-E707-B0F8ADA9FD58}"/>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2914347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1FF3B-B8D0-4191-412C-89A9E63F0ADA}"/>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085664B1-5A0E-066A-D3A3-6F5438945F92}"/>
              </a:ext>
            </a:extLst>
          </p:cNvPr>
          <p:cNvSpPr>
            <a:spLocks noGrp="1"/>
          </p:cNvSpPr>
          <p:nvPr>
            <p:ph type="dt" sz="half" idx="10"/>
          </p:nvPr>
        </p:nvSpPr>
        <p:spPr/>
        <p:txBody>
          <a:bodyPr/>
          <a:lstStyle/>
          <a:p>
            <a:fld id="{36B7F168-C91E-4722-BAA2-EE2C12D891EA}" type="datetime1">
              <a:rPr lang="LID4096" smtClean="0"/>
              <a:t>10/09/2025</a:t>
            </a:fld>
            <a:endParaRPr lang="en-IL"/>
          </a:p>
        </p:txBody>
      </p:sp>
      <p:sp>
        <p:nvSpPr>
          <p:cNvPr id="4" name="Footer Placeholder 3">
            <a:extLst>
              <a:ext uri="{FF2B5EF4-FFF2-40B4-BE49-F238E27FC236}">
                <a16:creationId xmlns:a16="http://schemas.microsoft.com/office/drawing/2014/main" id="{E3ED8E04-6FFE-B008-3F6C-0F7939496991}"/>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AFB5DCF-AA88-1175-1110-104E67639836}"/>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68200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D2C031-4B85-322E-BE58-2471E8F093A4}"/>
              </a:ext>
            </a:extLst>
          </p:cNvPr>
          <p:cNvSpPr>
            <a:spLocks noGrp="1"/>
          </p:cNvSpPr>
          <p:nvPr>
            <p:ph type="dt" sz="half" idx="10"/>
          </p:nvPr>
        </p:nvSpPr>
        <p:spPr/>
        <p:txBody>
          <a:bodyPr/>
          <a:lstStyle/>
          <a:p>
            <a:fld id="{C376DEB8-BCB0-44D7-B7C4-EABF816C744B}" type="datetime1">
              <a:rPr lang="LID4096" smtClean="0"/>
              <a:t>10/09/2025</a:t>
            </a:fld>
            <a:endParaRPr lang="en-IL"/>
          </a:p>
        </p:txBody>
      </p:sp>
      <p:sp>
        <p:nvSpPr>
          <p:cNvPr id="3" name="Footer Placeholder 2">
            <a:extLst>
              <a:ext uri="{FF2B5EF4-FFF2-40B4-BE49-F238E27FC236}">
                <a16:creationId xmlns:a16="http://schemas.microsoft.com/office/drawing/2014/main" id="{1F1EC322-81CC-29FE-D405-252B8C2D1178}"/>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7B4C2DEA-A28D-0862-873E-8E12E26F9E72}"/>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2138420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6A50C-21EF-8E9A-5C0D-ECA3439EDC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CA7F8893-EA77-55AC-0637-0851C95034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07E56FC-76FB-8139-CDE3-05DC24CD9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156FF8-072F-F39B-EDFA-9D03F1C55854}"/>
              </a:ext>
            </a:extLst>
          </p:cNvPr>
          <p:cNvSpPr>
            <a:spLocks noGrp="1"/>
          </p:cNvSpPr>
          <p:nvPr>
            <p:ph type="dt" sz="half" idx="10"/>
          </p:nvPr>
        </p:nvSpPr>
        <p:spPr/>
        <p:txBody>
          <a:bodyPr/>
          <a:lstStyle/>
          <a:p>
            <a:fld id="{6E099537-B6CA-4F1A-85D1-A943582EFD4A}" type="datetime1">
              <a:rPr lang="LID4096" smtClean="0"/>
              <a:t>10/09/2025</a:t>
            </a:fld>
            <a:endParaRPr lang="en-IL"/>
          </a:p>
        </p:txBody>
      </p:sp>
      <p:sp>
        <p:nvSpPr>
          <p:cNvPr id="6" name="Footer Placeholder 5">
            <a:extLst>
              <a:ext uri="{FF2B5EF4-FFF2-40B4-BE49-F238E27FC236}">
                <a16:creationId xmlns:a16="http://schemas.microsoft.com/office/drawing/2014/main" id="{B5B2AD08-6366-FBE9-8D95-D7F4ED7016A2}"/>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5EF79AE-8C70-722A-09F1-343A165AE690}"/>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7290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71A9-DB0C-CBE6-8BE3-A903EDB92B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5A5B2149-6CD6-9213-81A1-A392B068DE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DF259B25-D95F-FB73-D150-2117E1CFA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94434-47AE-3A4D-C371-D3046A23A39A}"/>
              </a:ext>
            </a:extLst>
          </p:cNvPr>
          <p:cNvSpPr>
            <a:spLocks noGrp="1"/>
          </p:cNvSpPr>
          <p:nvPr>
            <p:ph type="dt" sz="half" idx="10"/>
          </p:nvPr>
        </p:nvSpPr>
        <p:spPr/>
        <p:txBody>
          <a:bodyPr/>
          <a:lstStyle/>
          <a:p>
            <a:fld id="{907A6A29-BCF0-433F-895E-0C35C06A9085}" type="datetime1">
              <a:rPr lang="LID4096" smtClean="0"/>
              <a:t>10/09/2025</a:t>
            </a:fld>
            <a:endParaRPr lang="en-IL"/>
          </a:p>
        </p:txBody>
      </p:sp>
      <p:sp>
        <p:nvSpPr>
          <p:cNvPr id="6" name="Footer Placeholder 5">
            <a:extLst>
              <a:ext uri="{FF2B5EF4-FFF2-40B4-BE49-F238E27FC236}">
                <a16:creationId xmlns:a16="http://schemas.microsoft.com/office/drawing/2014/main" id="{9C0D8145-7EA8-58CB-B2B4-DAAD190257B4}"/>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BE4535DE-858C-DEC0-C946-F441B4FB6C10}"/>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1953560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2B5DE-31CC-C9C5-9BCB-06F56F9F6443}"/>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B6FD7378-23CC-18A4-981A-5B2518B1BE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810C03BB-8CA6-3AA8-C99B-9310C9128F13}"/>
              </a:ext>
            </a:extLst>
          </p:cNvPr>
          <p:cNvSpPr>
            <a:spLocks noGrp="1"/>
          </p:cNvSpPr>
          <p:nvPr>
            <p:ph type="dt" sz="half" idx="10"/>
          </p:nvPr>
        </p:nvSpPr>
        <p:spPr/>
        <p:txBody>
          <a:bodyPr/>
          <a:lstStyle/>
          <a:p>
            <a:fld id="{D1E600DF-80C5-41AE-8BCB-E1D12B26CF42}" type="datetime1">
              <a:rPr lang="LID4096" smtClean="0"/>
              <a:t>10/09/2025</a:t>
            </a:fld>
            <a:endParaRPr lang="en-IL"/>
          </a:p>
        </p:txBody>
      </p:sp>
      <p:sp>
        <p:nvSpPr>
          <p:cNvPr id="5" name="Footer Placeholder 4">
            <a:extLst>
              <a:ext uri="{FF2B5EF4-FFF2-40B4-BE49-F238E27FC236}">
                <a16:creationId xmlns:a16="http://schemas.microsoft.com/office/drawing/2014/main" id="{834973F8-1EA2-13D2-CDF2-F561572D298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91477FD-CE6B-6A1F-D6CA-6A5988143F13}"/>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2445644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70BBFF-9EF1-FA62-05CC-9B6D6EA86C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F0739B09-CF70-1183-39F2-5C09492707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3D3D1ED6-19A3-DD9C-CAFB-EF9FD2DE832D}"/>
              </a:ext>
            </a:extLst>
          </p:cNvPr>
          <p:cNvSpPr>
            <a:spLocks noGrp="1"/>
          </p:cNvSpPr>
          <p:nvPr>
            <p:ph type="dt" sz="half" idx="10"/>
          </p:nvPr>
        </p:nvSpPr>
        <p:spPr/>
        <p:txBody>
          <a:bodyPr/>
          <a:lstStyle/>
          <a:p>
            <a:fld id="{399F5F47-9E79-4E5E-B9A9-73FC00535733}" type="datetime1">
              <a:rPr lang="LID4096" smtClean="0"/>
              <a:t>10/09/2025</a:t>
            </a:fld>
            <a:endParaRPr lang="en-IL"/>
          </a:p>
        </p:txBody>
      </p:sp>
      <p:sp>
        <p:nvSpPr>
          <p:cNvPr id="5" name="Footer Placeholder 4">
            <a:extLst>
              <a:ext uri="{FF2B5EF4-FFF2-40B4-BE49-F238E27FC236}">
                <a16:creationId xmlns:a16="http://schemas.microsoft.com/office/drawing/2014/main" id="{7407E854-B65C-0061-7FA8-1ADF528FE76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6AC834F-A9F7-3961-B677-5C89CAC8176F}"/>
              </a:ext>
            </a:extLst>
          </p:cNvPr>
          <p:cNvSpPr>
            <a:spLocks noGrp="1"/>
          </p:cNvSpPr>
          <p:nvPr>
            <p:ph type="sldNum" sz="quarter" idx="12"/>
          </p:nvPr>
        </p:nvSpPr>
        <p:spPr/>
        <p:txBody>
          <a:bodyPr/>
          <a:lstStyle/>
          <a:p>
            <a:fld id="{98B7615F-E33B-3848-BD22-4AC293A6C7B8}" type="slidenum">
              <a:rPr lang="en-IL" smtClean="0"/>
              <a:t>‹#›</a:t>
            </a:fld>
            <a:endParaRPr lang="en-IL"/>
          </a:p>
        </p:txBody>
      </p:sp>
    </p:spTree>
    <p:extLst>
      <p:ext uri="{BB962C8B-B14F-4D97-AF65-F5344CB8AC3E}">
        <p14:creationId xmlns:p14="http://schemas.microsoft.com/office/powerpoint/2010/main" val="3358362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A84888-AE22-7EFC-A60D-20CD410BAA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2345B3ED-9295-2F4C-3FF7-CE1067EFFC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6E59D22-BC29-5D43-A169-74DF43F074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7DE0C2-EB5E-4260-9369-82BE3623FDA8}" type="datetime1">
              <a:rPr lang="LID4096" smtClean="0"/>
              <a:t>10/09/2025</a:t>
            </a:fld>
            <a:endParaRPr lang="en-IL"/>
          </a:p>
        </p:txBody>
      </p:sp>
      <p:sp>
        <p:nvSpPr>
          <p:cNvPr id="5" name="Footer Placeholder 4">
            <a:extLst>
              <a:ext uri="{FF2B5EF4-FFF2-40B4-BE49-F238E27FC236}">
                <a16:creationId xmlns:a16="http://schemas.microsoft.com/office/drawing/2014/main" id="{D576830B-A33E-2DD9-443B-ADEE057AF0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D16D06D4-9FD5-B5BC-50ED-806B335B7B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B7615F-E33B-3848-BD22-4AC293A6C7B8}" type="slidenum">
              <a:rPr lang="en-IL" smtClean="0"/>
              <a:t>‹#›</a:t>
            </a:fld>
            <a:endParaRPr lang="en-IL"/>
          </a:p>
        </p:txBody>
      </p:sp>
    </p:spTree>
    <p:extLst>
      <p:ext uri="{BB962C8B-B14F-4D97-AF65-F5344CB8AC3E}">
        <p14:creationId xmlns:p14="http://schemas.microsoft.com/office/powerpoint/2010/main" val="2653461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Eitandu@post.bgu.ac.il" TargetMode="External"/><Relationship Id="rId2" Type="http://schemas.openxmlformats.org/officeDocument/2006/relationships/hyperlink" Target="mailto:avikaml@post.bgu.ac.il" TargetMode="External"/><Relationship Id="rId1" Type="http://schemas.openxmlformats.org/officeDocument/2006/relationships/slideLayout" Target="../slideLayouts/slideLayout2.xml"/><Relationship Id="rId5" Type="http://schemas.openxmlformats.org/officeDocument/2006/relationships/hyperlink" Target="mailto:shamirda@post.bgu.ac.il" TargetMode="External"/><Relationship Id="rId4" Type="http://schemas.openxmlformats.org/officeDocument/2006/relationships/hyperlink" Target="mailto:Talgin@post.bgu.ac.i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783A6-5065-CCEE-5071-BD867F39DBBA}"/>
              </a:ext>
            </a:extLst>
          </p:cNvPr>
          <p:cNvSpPr>
            <a:spLocks noGrp="1"/>
          </p:cNvSpPr>
          <p:nvPr>
            <p:ph type="ctrTitle"/>
          </p:nvPr>
        </p:nvSpPr>
        <p:spPr/>
        <p:txBody>
          <a:bodyPr>
            <a:normAutofit/>
          </a:bodyPr>
          <a:lstStyle/>
          <a:p>
            <a:r>
              <a:rPr lang="en-US" dirty="0" err="1">
                <a:solidFill>
                  <a:schemeClr val="accent2"/>
                </a:solidFill>
              </a:rPr>
              <a:t>Trempim</a:t>
            </a:r>
            <a:r>
              <a:rPr lang="en-US" dirty="0">
                <a:solidFill>
                  <a:schemeClr val="accent2"/>
                </a:solidFill>
              </a:rPr>
              <a:t> </a:t>
            </a:r>
            <a:r>
              <a:rPr lang="en-IL" dirty="0">
                <a:solidFill>
                  <a:schemeClr val="accent2"/>
                </a:solidFill>
              </a:rPr>
              <a:t>- PROPOSAL</a:t>
            </a:r>
            <a:br>
              <a:rPr lang="en-IL" dirty="0"/>
            </a:br>
            <a:br>
              <a:rPr lang="en-IL" sz="2800" dirty="0"/>
            </a:br>
            <a:r>
              <a:rPr lang="en-US" sz="2800" dirty="0">
                <a:solidFill>
                  <a:schemeClr val="accent4"/>
                </a:solidFill>
              </a:rPr>
              <a:t>Avikam Levi, Eitan Dubinski, Tal Ginzburg, Daniel Shamir</a:t>
            </a:r>
            <a:endParaRPr lang="en-IL" sz="2800" dirty="0">
              <a:solidFill>
                <a:schemeClr val="accent4"/>
              </a:solidFill>
            </a:endParaRPr>
          </a:p>
        </p:txBody>
      </p:sp>
      <p:sp>
        <p:nvSpPr>
          <p:cNvPr id="3" name="Subtitle 2">
            <a:extLst>
              <a:ext uri="{FF2B5EF4-FFF2-40B4-BE49-F238E27FC236}">
                <a16:creationId xmlns:a16="http://schemas.microsoft.com/office/drawing/2014/main" id="{AEC5FA62-C095-E0FA-B574-15C0BAAE7B54}"/>
              </a:ext>
            </a:extLst>
          </p:cNvPr>
          <p:cNvSpPr>
            <a:spLocks noGrp="1"/>
          </p:cNvSpPr>
          <p:nvPr>
            <p:ph type="subTitle" idx="1"/>
          </p:nvPr>
        </p:nvSpPr>
        <p:spPr/>
        <p:txBody>
          <a:bodyPr>
            <a:normAutofit lnSpcReduction="10000"/>
          </a:bodyPr>
          <a:lstStyle/>
          <a:p>
            <a:endParaRPr lang="en-IL" dirty="0"/>
          </a:p>
          <a:p>
            <a:r>
              <a:rPr lang="en-IL" dirty="0">
                <a:solidFill>
                  <a:schemeClr val="accent4"/>
                </a:solidFill>
              </a:rPr>
              <a:t>Software Engineering</a:t>
            </a:r>
          </a:p>
          <a:p>
            <a:r>
              <a:rPr lang="en-IL" dirty="0">
                <a:solidFill>
                  <a:schemeClr val="accent4"/>
                </a:solidFill>
              </a:rPr>
              <a:t>Faculty of E</a:t>
            </a:r>
            <a:r>
              <a:rPr lang="en-US" dirty="0">
                <a:solidFill>
                  <a:schemeClr val="accent4"/>
                </a:solidFill>
              </a:rPr>
              <a:t>n</a:t>
            </a:r>
            <a:r>
              <a:rPr lang="en-IL" dirty="0">
                <a:solidFill>
                  <a:schemeClr val="accent4"/>
                </a:solidFill>
              </a:rPr>
              <a:t>gineering</a:t>
            </a:r>
          </a:p>
          <a:p>
            <a:r>
              <a:rPr lang="en-IL" dirty="0">
                <a:solidFill>
                  <a:schemeClr val="accent2"/>
                </a:solidFill>
              </a:rPr>
              <a:t>Ben G</a:t>
            </a:r>
            <a:r>
              <a:rPr lang="en-US" dirty="0">
                <a:solidFill>
                  <a:schemeClr val="accent2"/>
                </a:solidFill>
              </a:rPr>
              <a:t>u</a:t>
            </a:r>
            <a:r>
              <a:rPr lang="en-IL" dirty="0">
                <a:solidFill>
                  <a:schemeClr val="accent2"/>
                </a:solidFill>
              </a:rPr>
              <a:t>rion University of the Negev</a:t>
            </a:r>
          </a:p>
        </p:txBody>
      </p:sp>
      <p:sp>
        <p:nvSpPr>
          <p:cNvPr id="4" name="Slide Number Placeholder 3">
            <a:extLst>
              <a:ext uri="{FF2B5EF4-FFF2-40B4-BE49-F238E27FC236}">
                <a16:creationId xmlns:a16="http://schemas.microsoft.com/office/drawing/2014/main" id="{AB8F0470-C572-09C0-DB47-D755C519590C}"/>
              </a:ext>
            </a:extLst>
          </p:cNvPr>
          <p:cNvSpPr>
            <a:spLocks noGrp="1"/>
          </p:cNvSpPr>
          <p:nvPr>
            <p:ph type="sldNum" sz="quarter" idx="12"/>
          </p:nvPr>
        </p:nvSpPr>
        <p:spPr/>
        <p:txBody>
          <a:bodyPr/>
          <a:lstStyle/>
          <a:p>
            <a:fld id="{98B7615F-E33B-3848-BD22-4AC293A6C7B8}" type="slidenum">
              <a:rPr lang="en-IL" smtClean="0"/>
              <a:t>1</a:t>
            </a:fld>
            <a:endParaRPr lang="en-IL"/>
          </a:p>
        </p:txBody>
      </p:sp>
    </p:spTree>
    <p:extLst>
      <p:ext uri="{BB962C8B-B14F-4D97-AF65-F5344CB8AC3E}">
        <p14:creationId xmlns:p14="http://schemas.microsoft.com/office/powerpoint/2010/main" val="4083443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8667-1017-D186-3777-381108A27C6D}"/>
              </a:ext>
            </a:extLst>
          </p:cNvPr>
          <p:cNvSpPr>
            <a:spLocks noGrp="1"/>
          </p:cNvSpPr>
          <p:nvPr>
            <p:ph type="title"/>
          </p:nvPr>
        </p:nvSpPr>
        <p:spPr/>
        <p:txBody>
          <a:bodyPr/>
          <a:lstStyle/>
          <a:p>
            <a:r>
              <a:rPr lang="en-US" dirty="0">
                <a:solidFill>
                  <a:schemeClr val="accent2"/>
                </a:solidFill>
              </a:rPr>
              <a:t>Hitch</a:t>
            </a:r>
            <a:endParaRPr lang="en-IL" dirty="0">
              <a:solidFill>
                <a:schemeClr val="accent4"/>
              </a:solidFill>
            </a:endParaRPr>
          </a:p>
        </p:txBody>
      </p:sp>
      <p:sp>
        <p:nvSpPr>
          <p:cNvPr id="3" name="Content Placeholder 2">
            <a:extLst>
              <a:ext uri="{FF2B5EF4-FFF2-40B4-BE49-F238E27FC236}">
                <a16:creationId xmlns:a16="http://schemas.microsoft.com/office/drawing/2014/main" id="{35938901-CC71-1857-FA37-870A5FD9C96E}"/>
              </a:ext>
            </a:extLst>
          </p:cNvPr>
          <p:cNvSpPr>
            <a:spLocks noGrp="1"/>
          </p:cNvSpPr>
          <p:nvPr>
            <p:ph idx="1"/>
          </p:nvPr>
        </p:nvSpPr>
        <p:spPr/>
        <p:txBody>
          <a:bodyPr/>
          <a:lstStyle/>
          <a:p>
            <a:r>
              <a:rPr lang="en" b="1" dirty="0">
                <a:solidFill>
                  <a:srgbClr val="000000"/>
                </a:solidFill>
              </a:rPr>
              <a:t>Project Title (English):</a:t>
            </a:r>
            <a:r>
              <a:rPr lang="en" dirty="0">
                <a:solidFill>
                  <a:srgbClr val="000000"/>
                </a:solidFill>
                <a:latin typeface="-webkit-standard"/>
              </a:rPr>
              <a:t> </a:t>
            </a:r>
            <a:r>
              <a:rPr lang="en-US" dirty="0" err="1">
                <a:solidFill>
                  <a:srgbClr val="000000"/>
                </a:solidFill>
                <a:latin typeface="-webkit-standard"/>
              </a:rPr>
              <a:t>Trempim</a:t>
            </a:r>
            <a:endParaRPr lang="en-IL" dirty="0"/>
          </a:p>
          <a:p>
            <a:r>
              <a:rPr lang="en" b="1" dirty="0">
                <a:solidFill>
                  <a:srgbClr val="000000"/>
                </a:solidFill>
              </a:rPr>
              <a:t>Project Title (Hebrew):</a:t>
            </a:r>
            <a:r>
              <a:rPr lang="en" dirty="0">
                <a:solidFill>
                  <a:srgbClr val="000000"/>
                </a:solidFill>
                <a:latin typeface="-webkit-standard"/>
              </a:rPr>
              <a:t> </a:t>
            </a:r>
            <a:r>
              <a:rPr lang="he-IL" dirty="0"/>
              <a:t>טרמפים</a:t>
            </a:r>
            <a:endParaRPr lang="en-IL" dirty="0"/>
          </a:p>
          <a:p>
            <a:endParaRPr lang="en-IL" dirty="0"/>
          </a:p>
          <a:p>
            <a:endParaRPr lang="en-IL" dirty="0"/>
          </a:p>
        </p:txBody>
      </p:sp>
      <p:graphicFrame>
        <p:nvGraphicFramePr>
          <p:cNvPr id="4" name="Table 4">
            <a:extLst>
              <a:ext uri="{FF2B5EF4-FFF2-40B4-BE49-F238E27FC236}">
                <a16:creationId xmlns:a16="http://schemas.microsoft.com/office/drawing/2014/main" id="{3F6078D3-65AA-F72B-F37F-D9B00B839691}"/>
              </a:ext>
            </a:extLst>
          </p:cNvPr>
          <p:cNvGraphicFramePr>
            <a:graphicFrameLocks noGrp="1"/>
          </p:cNvGraphicFramePr>
          <p:nvPr>
            <p:extLst>
              <p:ext uri="{D42A27DB-BD31-4B8C-83A1-F6EECF244321}">
                <p14:modId xmlns:p14="http://schemas.microsoft.com/office/powerpoint/2010/main" val="203008060"/>
              </p:ext>
            </p:extLst>
          </p:nvPr>
        </p:nvGraphicFramePr>
        <p:xfrm>
          <a:off x="388307" y="3429000"/>
          <a:ext cx="11022902" cy="3124200"/>
        </p:xfrm>
        <a:graphic>
          <a:graphicData uri="http://schemas.openxmlformats.org/drawingml/2006/table">
            <a:tbl>
              <a:tblPr firstRow="1" bandRow="1">
                <a:tableStyleId>{5C22544A-7EE6-4342-B048-85BDC9FD1C3A}</a:tableStyleId>
              </a:tblPr>
              <a:tblGrid>
                <a:gridCol w="2204580">
                  <a:extLst>
                    <a:ext uri="{9D8B030D-6E8A-4147-A177-3AD203B41FA5}">
                      <a16:colId xmlns:a16="http://schemas.microsoft.com/office/drawing/2014/main" val="1301077502"/>
                    </a:ext>
                  </a:extLst>
                </a:gridCol>
                <a:gridCol w="2204580">
                  <a:extLst>
                    <a:ext uri="{9D8B030D-6E8A-4147-A177-3AD203B41FA5}">
                      <a16:colId xmlns:a16="http://schemas.microsoft.com/office/drawing/2014/main" val="880678584"/>
                    </a:ext>
                  </a:extLst>
                </a:gridCol>
                <a:gridCol w="2930610">
                  <a:extLst>
                    <a:ext uri="{9D8B030D-6E8A-4147-A177-3AD203B41FA5}">
                      <a16:colId xmlns:a16="http://schemas.microsoft.com/office/drawing/2014/main" val="2389802636"/>
                    </a:ext>
                  </a:extLst>
                </a:gridCol>
                <a:gridCol w="1478552">
                  <a:extLst>
                    <a:ext uri="{9D8B030D-6E8A-4147-A177-3AD203B41FA5}">
                      <a16:colId xmlns:a16="http://schemas.microsoft.com/office/drawing/2014/main" val="4014467268"/>
                    </a:ext>
                  </a:extLst>
                </a:gridCol>
                <a:gridCol w="2204580">
                  <a:extLst>
                    <a:ext uri="{9D8B030D-6E8A-4147-A177-3AD203B41FA5}">
                      <a16:colId xmlns:a16="http://schemas.microsoft.com/office/drawing/2014/main" val="2208080845"/>
                    </a:ext>
                  </a:extLst>
                </a:gridCol>
              </a:tblGrid>
              <a:tr h="370840">
                <a:tc>
                  <a:txBody>
                    <a:bodyPr/>
                    <a:lstStyle/>
                    <a:p>
                      <a:pPr rtl="0"/>
                      <a:r>
                        <a:rPr lang="en-IL" dirty="0">
                          <a:solidFill>
                            <a:schemeClr val="accent4"/>
                          </a:solidFill>
                        </a:rPr>
                        <a:t>Student Name</a:t>
                      </a:r>
                    </a:p>
                  </a:txBody>
                  <a:tcPr>
                    <a:solidFill>
                      <a:schemeClr val="bg1"/>
                    </a:solidFill>
                  </a:tcPr>
                </a:tc>
                <a:tc>
                  <a:txBody>
                    <a:bodyPr/>
                    <a:lstStyle/>
                    <a:p>
                      <a:pPr rtl="0"/>
                      <a:r>
                        <a:rPr lang="en-IL" dirty="0">
                          <a:solidFill>
                            <a:schemeClr val="accent4"/>
                          </a:solidFill>
                        </a:rPr>
                        <a:t>ID</a:t>
                      </a:r>
                    </a:p>
                  </a:txBody>
                  <a:tcPr>
                    <a:solidFill>
                      <a:schemeClr val="bg1"/>
                    </a:solidFill>
                  </a:tcPr>
                </a:tc>
                <a:tc>
                  <a:txBody>
                    <a:bodyPr/>
                    <a:lstStyle/>
                    <a:p>
                      <a:pPr rtl="0"/>
                      <a:r>
                        <a:rPr lang="en-IL" dirty="0">
                          <a:solidFill>
                            <a:schemeClr val="accent4"/>
                          </a:solidFill>
                        </a:rPr>
                        <a:t>Email</a:t>
                      </a:r>
                    </a:p>
                  </a:txBody>
                  <a:tcPr>
                    <a:solidFill>
                      <a:schemeClr val="bg1"/>
                    </a:solidFill>
                  </a:tcPr>
                </a:tc>
                <a:tc>
                  <a:txBody>
                    <a:bodyPr/>
                    <a:lstStyle/>
                    <a:p>
                      <a:pPr rtl="0"/>
                      <a:r>
                        <a:rPr lang="en-IL" dirty="0">
                          <a:solidFill>
                            <a:schemeClr val="accent4"/>
                          </a:solidFill>
                        </a:rPr>
                        <a:t>Phone</a:t>
                      </a:r>
                    </a:p>
                  </a:txBody>
                  <a:tcPr>
                    <a:solidFill>
                      <a:schemeClr val="bg1"/>
                    </a:solidFill>
                  </a:tcPr>
                </a:tc>
                <a:tc>
                  <a:txBody>
                    <a:bodyPr/>
                    <a:lstStyle/>
                    <a:p>
                      <a:pPr rtl="0"/>
                      <a:r>
                        <a:rPr lang="en-IL" dirty="0">
                          <a:solidFill>
                            <a:schemeClr val="accent4"/>
                          </a:solidFill>
                        </a:rPr>
                        <a:t>Signature</a:t>
                      </a:r>
                    </a:p>
                  </a:txBody>
                  <a:tcPr>
                    <a:solidFill>
                      <a:schemeClr val="bg1"/>
                    </a:solidFill>
                  </a:tcPr>
                </a:tc>
                <a:extLst>
                  <a:ext uri="{0D108BD9-81ED-4DB2-BD59-A6C34878D82A}">
                    <a16:rowId xmlns:a16="http://schemas.microsoft.com/office/drawing/2014/main" val="2658813419"/>
                  </a:ext>
                </a:extLst>
              </a:tr>
              <a:tr h="370840">
                <a:tc>
                  <a:txBody>
                    <a:bodyPr/>
                    <a:lstStyle/>
                    <a:p>
                      <a:pPr marL="0" algn="l" defTabSz="914400" rtl="0" eaLnBrk="1" latinLnBrk="0" hangingPunct="1"/>
                      <a:r>
                        <a:rPr lang="en-US" sz="1800" b="0" i="0" kern="1200" dirty="0">
                          <a:solidFill>
                            <a:schemeClr val="dk1"/>
                          </a:solidFill>
                          <a:effectLst/>
                          <a:latin typeface="+mn-lt"/>
                          <a:ea typeface="+mn-ea"/>
                          <a:cs typeface="+mn-cs"/>
                        </a:rPr>
                        <a:t>Avikam Levi </a:t>
                      </a:r>
                    </a:p>
                    <a:p>
                      <a:pPr marL="0" algn="l" defTabSz="914400" rtl="0" eaLnBrk="1" latinLnBrk="0" hangingPunct="1"/>
                      <a:endParaRPr lang="en-US" sz="1800" b="0" i="0" kern="1200" dirty="0">
                        <a:solidFill>
                          <a:schemeClr val="dk1"/>
                        </a:solidFill>
                        <a:effectLst/>
                        <a:latin typeface="+mn-lt"/>
                        <a:ea typeface="+mn-ea"/>
                        <a:cs typeface="+mn-cs"/>
                      </a:endParaRPr>
                    </a:p>
                    <a:p>
                      <a:pPr marL="0" algn="l" defTabSz="914400" rtl="0" eaLnBrk="1" latinLnBrk="0" hangingPunct="1"/>
                      <a:r>
                        <a:rPr lang="en-US" sz="1800" b="0" i="0" kern="1200" dirty="0">
                          <a:solidFill>
                            <a:schemeClr val="dk1"/>
                          </a:solidFill>
                          <a:effectLst/>
                          <a:latin typeface="+mn-lt"/>
                          <a:ea typeface="+mn-ea"/>
                          <a:cs typeface="+mn-cs"/>
                        </a:rPr>
                        <a:t>Eitan Dubinski</a:t>
                      </a:r>
                    </a:p>
                    <a:p>
                      <a:pPr marL="0" algn="l" defTabSz="914400" rtl="0" eaLnBrk="1" latinLnBrk="0" hangingPunct="1"/>
                      <a:endParaRPr lang="en-US" sz="1800" b="0" i="0" kern="1200" dirty="0">
                        <a:solidFill>
                          <a:schemeClr val="dk1"/>
                        </a:solidFill>
                        <a:effectLst/>
                        <a:latin typeface="+mn-lt"/>
                        <a:ea typeface="+mn-ea"/>
                        <a:cs typeface="+mn-cs"/>
                      </a:endParaRPr>
                    </a:p>
                    <a:p>
                      <a:pPr marL="0" algn="l" defTabSz="914400" rtl="0" eaLnBrk="1" latinLnBrk="0" hangingPunct="1"/>
                      <a:r>
                        <a:rPr lang="en-US" sz="1800" b="0" i="0" kern="1200" dirty="0">
                          <a:solidFill>
                            <a:schemeClr val="dk1"/>
                          </a:solidFill>
                          <a:effectLst/>
                          <a:latin typeface="+mn-lt"/>
                          <a:ea typeface="+mn-ea"/>
                          <a:cs typeface="+mn-cs"/>
                        </a:rPr>
                        <a:t>Tal Ginzburg</a:t>
                      </a:r>
                    </a:p>
                    <a:p>
                      <a:pPr marL="0" algn="l" defTabSz="914400" rtl="0" eaLnBrk="1" latinLnBrk="0" hangingPunct="1"/>
                      <a:endParaRPr lang="en-US" sz="1800" b="0" i="0" kern="1200" dirty="0">
                        <a:solidFill>
                          <a:schemeClr val="dk1"/>
                        </a:solidFill>
                        <a:effectLst/>
                        <a:latin typeface="+mn-lt"/>
                        <a:ea typeface="+mn-ea"/>
                        <a:cs typeface="+mn-cs"/>
                      </a:endParaRPr>
                    </a:p>
                    <a:p>
                      <a:pPr marL="0" algn="l" defTabSz="914400" rtl="0" eaLnBrk="1" latinLnBrk="0" hangingPunct="1"/>
                      <a:r>
                        <a:rPr lang="en-US" sz="1800" b="0" i="0" kern="1200" dirty="0">
                          <a:solidFill>
                            <a:schemeClr val="dk1"/>
                          </a:solidFill>
                          <a:effectLst/>
                          <a:latin typeface="+mn-lt"/>
                          <a:ea typeface="+mn-ea"/>
                          <a:cs typeface="+mn-cs"/>
                        </a:rPr>
                        <a:t>Daniel Shamir</a:t>
                      </a:r>
                      <a:endParaRPr lang="en-IL" dirty="0">
                        <a:solidFill>
                          <a:schemeClr val="tx1"/>
                        </a:solidFill>
                      </a:endParaRPr>
                    </a:p>
                  </a:txBody>
                  <a:tcPr>
                    <a:solidFill>
                      <a:schemeClr val="bg1"/>
                    </a:solidFill>
                  </a:tcPr>
                </a:tc>
                <a:tc>
                  <a:txBody>
                    <a:bodyPr/>
                    <a:lstStyle/>
                    <a:p>
                      <a:pPr rtl="0"/>
                      <a:r>
                        <a:rPr lang="he-IL" dirty="0">
                          <a:solidFill>
                            <a:schemeClr val="tx1"/>
                          </a:solidFill>
                        </a:rPr>
                        <a:t>319047023</a:t>
                      </a:r>
                    </a:p>
                    <a:p>
                      <a:pPr rtl="0"/>
                      <a:endParaRPr lang="he-IL" dirty="0">
                        <a:solidFill>
                          <a:schemeClr val="tx1"/>
                        </a:solidFill>
                      </a:endParaRPr>
                    </a:p>
                    <a:p>
                      <a:pPr rtl="0"/>
                      <a:r>
                        <a:rPr lang="he-IL" dirty="0">
                          <a:solidFill>
                            <a:schemeClr val="tx1"/>
                          </a:solidFill>
                        </a:rPr>
                        <a:t>325885002</a:t>
                      </a:r>
                    </a:p>
                    <a:p>
                      <a:pPr rtl="0"/>
                      <a:endParaRPr lang="he-IL" dirty="0">
                        <a:solidFill>
                          <a:schemeClr val="tx1"/>
                        </a:solidFill>
                      </a:endParaRPr>
                    </a:p>
                    <a:p>
                      <a:pPr rtl="0"/>
                      <a:r>
                        <a:rPr lang="he-IL" dirty="0">
                          <a:solidFill>
                            <a:schemeClr val="tx1"/>
                          </a:solidFill>
                        </a:rPr>
                        <a:t>322720137</a:t>
                      </a:r>
                    </a:p>
                    <a:p>
                      <a:pPr rtl="0"/>
                      <a:endParaRPr lang="he-IL" dirty="0">
                        <a:solidFill>
                          <a:schemeClr val="tx1"/>
                        </a:solidFill>
                      </a:endParaRPr>
                    </a:p>
                    <a:p>
                      <a:pPr rtl="0"/>
                      <a:r>
                        <a:rPr lang="he-IL" dirty="0">
                          <a:solidFill>
                            <a:schemeClr val="tx1"/>
                          </a:solidFill>
                        </a:rPr>
                        <a:t>314969056</a:t>
                      </a:r>
                      <a:endParaRPr lang="en-IL" dirty="0">
                        <a:solidFill>
                          <a:schemeClr val="tx1"/>
                        </a:solidFill>
                      </a:endParaRPr>
                    </a:p>
                  </a:txBody>
                  <a:tcPr>
                    <a:solidFill>
                      <a:schemeClr val="bg1"/>
                    </a:solidFill>
                  </a:tcPr>
                </a:tc>
                <a:tc>
                  <a:txBody>
                    <a:bodyPr/>
                    <a:lstStyle/>
                    <a:p>
                      <a:pPr rtl="0"/>
                      <a:r>
                        <a:rPr lang="en-US" sz="1800" b="0" i="0" kern="1200" dirty="0">
                          <a:solidFill>
                            <a:schemeClr val="dk1"/>
                          </a:solidFill>
                          <a:effectLst/>
                          <a:latin typeface="+mn-lt"/>
                          <a:ea typeface="+mn-ea"/>
                          <a:cs typeface="+mn-cs"/>
                          <a:hlinkClick r:id="rId2"/>
                        </a:rPr>
                        <a:t>avikaml@post.bgu.ac.il</a:t>
                      </a:r>
                      <a:endParaRPr lang="en-US" sz="1800" b="0" i="0" kern="1200" dirty="0">
                        <a:solidFill>
                          <a:schemeClr val="dk1"/>
                        </a:solidFill>
                        <a:effectLst/>
                        <a:latin typeface="+mn-lt"/>
                        <a:ea typeface="+mn-ea"/>
                        <a:cs typeface="+mn-cs"/>
                      </a:endParaRPr>
                    </a:p>
                    <a:p>
                      <a:pPr rtl="0"/>
                      <a:endParaRPr lang="en-US" sz="1800" b="0" i="0" kern="1200" dirty="0">
                        <a:solidFill>
                          <a:schemeClr val="dk1"/>
                        </a:solidFill>
                        <a:effectLst/>
                        <a:latin typeface="+mn-lt"/>
                        <a:ea typeface="+mn-ea"/>
                        <a:cs typeface="+mn-cs"/>
                      </a:endParaRPr>
                    </a:p>
                    <a:p>
                      <a:pPr rtl="0"/>
                      <a:r>
                        <a:rPr lang="en-US" sz="1800" b="0" i="0" kern="1200" dirty="0">
                          <a:solidFill>
                            <a:schemeClr val="dk1"/>
                          </a:solidFill>
                          <a:effectLst/>
                          <a:latin typeface="+mn-lt"/>
                          <a:ea typeface="+mn-ea"/>
                          <a:cs typeface="+mn-cs"/>
                        </a:rPr>
                        <a:t> </a:t>
                      </a:r>
                      <a:r>
                        <a:rPr lang="en-US" sz="1800" b="0" i="0" kern="1200" dirty="0">
                          <a:solidFill>
                            <a:schemeClr val="dk1"/>
                          </a:solidFill>
                          <a:effectLst/>
                          <a:latin typeface="+mn-lt"/>
                          <a:ea typeface="+mn-ea"/>
                          <a:cs typeface="+mn-cs"/>
                          <a:hlinkClick r:id="rId3"/>
                        </a:rPr>
                        <a:t>Eitandu@post.bgu.ac.il</a:t>
                      </a:r>
                      <a:endParaRPr lang="en-US" sz="1800" b="0" i="0" kern="1200" dirty="0">
                        <a:solidFill>
                          <a:schemeClr val="dk1"/>
                        </a:solidFill>
                        <a:effectLst/>
                        <a:latin typeface="+mn-lt"/>
                        <a:ea typeface="+mn-ea"/>
                        <a:cs typeface="+mn-cs"/>
                      </a:endParaRPr>
                    </a:p>
                    <a:p>
                      <a:pPr rtl="0"/>
                      <a:endParaRPr lang="en-US" sz="1800" b="0" i="0" kern="1200" dirty="0">
                        <a:solidFill>
                          <a:schemeClr val="dk1"/>
                        </a:solidFill>
                        <a:effectLst/>
                        <a:latin typeface="+mn-lt"/>
                        <a:ea typeface="+mn-ea"/>
                        <a:cs typeface="+mn-cs"/>
                      </a:endParaRPr>
                    </a:p>
                    <a:p>
                      <a:pPr rtl="0"/>
                      <a:r>
                        <a:rPr lang="en-US" sz="1800" b="0" i="0" kern="1200" dirty="0">
                          <a:solidFill>
                            <a:schemeClr val="dk1"/>
                          </a:solidFill>
                          <a:effectLst/>
                          <a:latin typeface="+mn-lt"/>
                          <a:ea typeface="+mn-ea"/>
                          <a:cs typeface="+mn-cs"/>
                        </a:rPr>
                        <a:t> </a:t>
                      </a:r>
                      <a:r>
                        <a:rPr lang="en-US" sz="1800" b="0" i="0" kern="1200" dirty="0">
                          <a:solidFill>
                            <a:schemeClr val="dk1"/>
                          </a:solidFill>
                          <a:effectLst/>
                          <a:latin typeface="+mn-lt"/>
                          <a:ea typeface="+mn-ea"/>
                          <a:cs typeface="+mn-cs"/>
                          <a:hlinkClick r:id="rId4"/>
                        </a:rPr>
                        <a:t>Talgin@post.bgu.ac.il</a:t>
                      </a:r>
                      <a:endParaRPr lang="en-US" sz="1800" b="0" i="0" kern="1200" dirty="0">
                        <a:solidFill>
                          <a:schemeClr val="dk1"/>
                        </a:solidFill>
                        <a:effectLst/>
                        <a:latin typeface="+mn-lt"/>
                        <a:ea typeface="+mn-ea"/>
                        <a:cs typeface="+mn-cs"/>
                      </a:endParaRPr>
                    </a:p>
                    <a:p>
                      <a:pPr rtl="0"/>
                      <a:r>
                        <a:rPr lang="en-US" sz="1800" b="0" i="0" kern="1200" dirty="0">
                          <a:solidFill>
                            <a:schemeClr val="dk1"/>
                          </a:solidFill>
                          <a:effectLst/>
                          <a:latin typeface="+mn-lt"/>
                          <a:ea typeface="+mn-ea"/>
                          <a:cs typeface="+mn-cs"/>
                        </a:rPr>
                        <a:t> </a:t>
                      </a:r>
                    </a:p>
                    <a:p>
                      <a:pPr rtl="0"/>
                      <a:r>
                        <a:rPr lang="en-US" sz="1800" b="0" i="0" kern="1200" dirty="0">
                          <a:solidFill>
                            <a:schemeClr val="dk1"/>
                          </a:solidFill>
                          <a:effectLst/>
                          <a:latin typeface="+mn-lt"/>
                          <a:ea typeface="+mn-ea"/>
                          <a:cs typeface="+mn-cs"/>
                          <a:hlinkClick r:id="rId5"/>
                        </a:rPr>
                        <a:t>shamirda@post.bgu.ac.il</a:t>
                      </a:r>
                      <a:endParaRPr lang="en-IL" dirty="0">
                        <a:solidFill>
                          <a:schemeClr val="tx1"/>
                        </a:solidFill>
                      </a:endParaRPr>
                    </a:p>
                  </a:txBody>
                  <a:tcPr>
                    <a:solidFill>
                      <a:schemeClr val="bg1"/>
                    </a:solidFill>
                  </a:tcPr>
                </a:tc>
                <a:tc>
                  <a:txBody>
                    <a:bodyPr/>
                    <a:lstStyle/>
                    <a:p>
                      <a:pPr rtl="0"/>
                      <a:r>
                        <a:rPr lang="he-IL" sz="1800" b="0" i="0" kern="1200" dirty="0">
                          <a:solidFill>
                            <a:schemeClr val="dk1"/>
                          </a:solidFill>
                          <a:effectLst/>
                          <a:latin typeface="+mn-lt"/>
                          <a:ea typeface="+mn-ea"/>
                          <a:cs typeface="+mn-cs"/>
                        </a:rPr>
                        <a:t>0524264469</a:t>
                      </a:r>
                      <a:endParaRPr lang="en-US" sz="1800" b="0" i="0" kern="1200" dirty="0">
                        <a:solidFill>
                          <a:schemeClr val="dk1"/>
                        </a:solidFill>
                        <a:effectLst/>
                        <a:latin typeface="+mn-lt"/>
                        <a:ea typeface="+mn-ea"/>
                        <a:cs typeface="+mn-cs"/>
                      </a:endParaRPr>
                    </a:p>
                    <a:p>
                      <a:pPr rtl="0"/>
                      <a:endParaRPr lang="en-US" sz="1800" b="0" i="0" kern="1200" dirty="0">
                        <a:solidFill>
                          <a:schemeClr val="dk1"/>
                        </a:solidFill>
                        <a:effectLst/>
                        <a:latin typeface="+mn-lt"/>
                        <a:ea typeface="+mn-ea"/>
                        <a:cs typeface="+mn-cs"/>
                      </a:endParaRPr>
                    </a:p>
                    <a:p>
                      <a:pPr rtl="0"/>
                      <a:r>
                        <a:rPr lang="en-US" sz="1800" b="0" i="0" kern="1200" dirty="0">
                          <a:solidFill>
                            <a:schemeClr val="dk1"/>
                          </a:solidFill>
                          <a:effectLst/>
                          <a:latin typeface="+mn-lt"/>
                          <a:ea typeface="+mn-ea"/>
                          <a:cs typeface="+mn-cs"/>
                        </a:rPr>
                        <a:t>0522452400</a:t>
                      </a:r>
                    </a:p>
                    <a:p>
                      <a:pPr rtl="0"/>
                      <a:endParaRPr lang="en-US" sz="1800" b="0" i="0" kern="1200" dirty="0">
                        <a:solidFill>
                          <a:schemeClr val="dk1"/>
                        </a:solidFill>
                        <a:effectLst/>
                        <a:latin typeface="+mn-lt"/>
                        <a:ea typeface="+mn-ea"/>
                        <a:cs typeface="+mn-cs"/>
                      </a:endParaRPr>
                    </a:p>
                    <a:p>
                      <a:pPr rtl="0"/>
                      <a:r>
                        <a:rPr lang="en-US" dirty="0">
                          <a:solidFill>
                            <a:schemeClr val="tx1"/>
                          </a:solidFill>
                        </a:rPr>
                        <a:t>0547057829</a:t>
                      </a:r>
                    </a:p>
                    <a:p>
                      <a:pPr rtl="0"/>
                      <a:endParaRPr lang="en-US" dirty="0">
                        <a:solidFill>
                          <a:schemeClr val="tx1"/>
                        </a:solidFill>
                      </a:endParaRPr>
                    </a:p>
                    <a:p>
                      <a:pPr rtl="0"/>
                      <a:r>
                        <a:rPr lang="en-US" dirty="0">
                          <a:solidFill>
                            <a:schemeClr val="tx1"/>
                          </a:solidFill>
                        </a:rPr>
                        <a:t>0546749295</a:t>
                      </a:r>
                      <a:endParaRPr lang="en-IL" dirty="0">
                        <a:solidFill>
                          <a:schemeClr val="tx1"/>
                        </a:solidFill>
                      </a:endParaRPr>
                    </a:p>
                  </a:txBody>
                  <a:tcPr>
                    <a:solidFill>
                      <a:schemeClr val="bg1"/>
                    </a:solidFill>
                  </a:tcPr>
                </a:tc>
                <a:tc>
                  <a:txBody>
                    <a:bodyPr/>
                    <a:lstStyle/>
                    <a:p>
                      <a:pPr rtl="0"/>
                      <a:r>
                        <a:rPr lang="en-IL" dirty="0">
                          <a:solidFill>
                            <a:schemeClr val="tx1"/>
                          </a:solidFill>
                        </a:rPr>
                        <a:t>Add Sign</a:t>
                      </a:r>
                    </a:p>
                  </a:txBody>
                  <a:tcPr>
                    <a:solidFill>
                      <a:schemeClr val="bg1"/>
                    </a:solidFill>
                  </a:tcPr>
                </a:tc>
                <a:extLst>
                  <a:ext uri="{0D108BD9-81ED-4DB2-BD59-A6C34878D82A}">
                    <a16:rowId xmlns:a16="http://schemas.microsoft.com/office/drawing/2014/main" val="2439746224"/>
                  </a:ext>
                </a:extLst>
              </a:tr>
              <a:tr h="370840">
                <a:tc>
                  <a:txBody>
                    <a:bodyPr/>
                    <a:lstStyle/>
                    <a:p>
                      <a:pPr rtl="0"/>
                      <a:endParaRPr lang="en-IL" dirty="0">
                        <a:solidFill>
                          <a:schemeClr val="tx1"/>
                        </a:solidFill>
                      </a:endParaRPr>
                    </a:p>
                  </a:txBody>
                  <a:tcPr>
                    <a:solidFill>
                      <a:schemeClr val="bg1"/>
                    </a:solidFill>
                  </a:tcPr>
                </a:tc>
                <a:tc>
                  <a:txBody>
                    <a:bodyPr/>
                    <a:lstStyle/>
                    <a:p>
                      <a:pPr rtl="0"/>
                      <a:endParaRPr lang="en-IL" dirty="0">
                        <a:solidFill>
                          <a:schemeClr val="tx1"/>
                        </a:solidFill>
                      </a:endParaRPr>
                    </a:p>
                  </a:txBody>
                  <a:tcPr>
                    <a:solidFill>
                      <a:schemeClr val="bg1"/>
                    </a:solidFill>
                  </a:tcPr>
                </a:tc>
                <a:tc>
                  <a:txBody>
                    <a:bodyPr/>
                    <a:lstStyle/>
                    <a:p>
                      <a:pPr rtl="0"/>
                      <a:endParaRPr lang="en-IL" dirty="0">
                        <a:solidFill>
                          <a:schemeClr val="tx1"/>
                        </a:solidFill>
                      </a:endParaRPr>
                    </a:p>
                  </a:txBody>
                  <a:tcPr>
                    <a:solidFill>
                      <a:schemeClr val="bg1"/>
                    </a:solidFill>
                  </a:tcPr>
                </a:tc>
                <a:tc>
                  <a:txBody>
                    <a:bodyPr/>
                    <a:lstStyle/>
                    <a:p>
                      <a:pPr rtl="0"/>
                      <a:endParaRPr lang="en-IL" dirty="0">
                        <a:solidFill>
                          <a:schemeClr val="tx1"/>
                        </a:solidFill>
                      </a:endParaRPr>
                    </a:p>
                  </a:txBody>
                  <a:tcPr>
                    <a:solidFill>
                      <a:schemeClr val="bg1"/>
                    </a:solidFill>
                  </a:tcPr>
                </a:tc>
                <a:tc>
                  <a:txBody>
                    <a:bodyPr/>
                    <a:lstStyle/>
                    <a:p>
                      <a:pPr rtl="0"/>
                      <a:endParaRPr lang="en-IL" dirty="0">
                        <a:solidFill>
                          <a:schemeClr val="tx1"/>
                        </a:solidFill>
                      </a:endParaRPr>
                    </a:p>
                  </a:txBody>
                  <a:tcPr>
                    <a:solidFill>
                      <a:schemeClr val="bg1"/>
                    </a:solidFill>
                  </a:tcPr>
                </a:tc>
                <a:extLst>
                  <a:ext uri="{0D108BD9-81ED-4DB2-BD59-A6C34878D82A}">
                    <a16:rowId xmlns:a16="http://schemas.microsoft.com/office/drawing/2014/main" val="3457001699"/>
                  </a:ext>
                </a:extLst>
              </a:tr>
              <a:tr h="370840">
                <a:tc>
                  <a:txBody>
                    <a:bodyPr/>
                    <a:lstStyle/>
                    <a:p>
                      <a:pPr rtl="0"/>
                      <a:endParaRPr lang="en-IL">
                        <a:solidFill>
                          <a:schemeClr val="tx1"/>
                        </a:solidFill>
                      </a:endParaRPr>
                    </a:p>
                  </a:txBody>
                  <a:tcPr>
                    <a:solidFill>
                      <a:schemeClr val="bg1"/>
                    </a:solidFill>
                  </a:tcPr>
                </a:tc>
                <a:tc>
                  <a:txBody>
                    <a:bodyPr/>
                    <a:lstStyle/>
                    <a:p>
                      <a:pPr rtl="0"/>
                      <a:endParaRPr lang="en-IL">
                        <a:solidFill>
                          <a:schemeClr val="tx1"/>
                        </a:solidFill>
                      </a:endParaRPr>
                    </a:p>
                  </a:txBody>
                  <a:tcPr>
                    <a:solidFill>
                      <a:schemeClr val="bg1"/>
                    </a:solidFill>
                  </a:tcPr>
                </a:tc>
                <a:tc>
                  <a:txBody>
                    <a:bodyPr/>
                    <a:lstStyle/>
                    <a:p>
                      <a:pPr rtl="0"/>
                      <a:endParaRPr lang="en-IL" dirty="0">
                        <a:solidFill>
                          <a:schemeClr val="tx1"/>
                        </a:solidFill>
                      </a:endParaRPr>
                    </a:p>
                  </a:txBody>
                  <a:tcPr>
                    <a:solidFill>
                      <a:schemeClr val="bg1"/>
                    </a:solidFill>
                  </a:tcPr>
                </a:tc>
                <a:tc>
                  <a:txBody>
                    <a:bodyPr/>
                    <a:lstStyle/>
                    <a:p>
                      <a:pPr rtl="0"/>
                      <a:endParaRPr lang="en-IL" dirty="0">
                        <a:solidFill>
                          <a:schemeClr val="tx1"/>
                        </a:solidFill>
                      </a:endParaRPr>
                    </a:p>
                  </a:txBody>
                  <a:tcPr>
                    <a:solidFill>
                      <a:schemeClr val="bg1"/>
                    </a:solidFill>
                  </a:tcPr>
                </a:tc>
                <a:tc>
                  <a:txBody>
                    <a:bodyPr/>
                    <a:lstStyle/>
                    <a:p>
                      <a:pPr marL="0" algn="l" defTabSz="914400" rtl="0" eaLnBrk="1" latinLnBrk="0" hangingPunct="1"/>
                      <a:endParaRPr lang="en-IL" dirty="0">
                        <a:solidFill>
                          <a:schemeClr val="tx1"/>
                        </a:solidFill>
                      </a:endParaRPr>
                    </a:p>
                  </a:txBody>
                  <a:tcPr>
                    <a:solidFill>
                      <a:schemeClr val="bg1"/>
                    </a:solidFill>
                  </a:tcPr>
                </a:tc>
                <a:extLst>
                  <a:ext uri="{0D108BD9-81ED-4DB2-BD59-A6C34878D82A}">
                    <a16:rowId xmlns:a16="http://schemas.microsoft.com/office/drawing/2014/main" val="4293998864"/>
                  </a:ext>
                </a:extLst>
              </a:tr>
            </a:tbl>
          </a:graphicData>
        </a:graphic>
      </p:graphicFrame>
      <p:sp>
        <p:nvSpPr>
          <p:cNvPr id="5" name="Slide Number Placeholder 4">
            <a:extLst>
              <a:ext uri="{FF2B5EF4-FFF2-40B4-BE49-F238E27FC236}">
                <a16:creationId xmlns:a16="http://schemas.microsoft.com/office/drawing/2014/main" id="{DC2B7F65-8957-360A-F99B-D86B09A51910}"/>
              </a:ext>
            </a:extLst>
          </p:cNvPr>
          <p:cNvSpPr>
            <a:spLocks noGrp="1"/>
          </p:cNvSpPr>
          <p:nvPr>
            <p:ph type="sldNum" sz="quarter" idx="12"/>
          </p:nvPr>
        </p:nvSpPr>
        <p:spPr/>
        <p:txBody>
          <a:bodyPr/>
          <a:lstStyle/>
          <a:p>
            <a:fld id="{98B7615F-E33B-3848-BD22-4AC293A6C7B8}" type="slidenum">
              <a:rPr lang="en-IL" smtClean="0"/>
              <a:t>2</a:t>
            </a:fld>
            <a:endParaRPr lang="en-IL"/>
          </a:p>
        </p:txBody>
      </p:sp>
    </p:spTree>
    <p:extLst>
      <p:ext uri="{BB962C8B-B14F-4D97-AF65-F5344CB8AC3E}">
        <p14:creationId xmlns:p14="http://schemas.microsoft.com/office/powerpoint/2010/main" val="15811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3A19-A2D3-9085-9598-ADF36AFA89C1}"/>
              </a:ext>
            </a:extLst>
          </p:cNvPr>
          <p:cNvSpPr>
            <a:spLocks noGrp="1"/>
          </p:cNvSpPr>
          <p:nvPr>
            <p:ph type="title"/>
          </p:nvPr>
        </p:nvSpPr>
        <p:spPr/>
        <p:txBody>
          <a:bodyPr/>
          <a:lstStyle/>
          <a:p>
            <a:r>
              <a:rPr lang="en-IL" dirty="0">
                <a:solidFill>
                  <a:schemeClr val="accent4"/>
                </a:solidFill>
              </a:rPr>
              <a:t>Customer</a:t>
            </a:r>
          </a:p>
        </p:txBody>
      </p:sp>
      <p:sp>
        <p:nvSpPr>
          <p:cNvPr id="3" name="Content Placeholder 2">
            <a:extLst>
              <a:ext uri="{FF2B5EF4-FFF2-40B4-BE49-F238E27FC236}">
                <a16:creationId xmlns:a16="http://schemas.microsoft.com/office/drawing/2014/main" id="{23E67915-CC19-1276-FBA9-6CA0EEBB7F2E}"/>
              </a:ext>
            </a:extLst>
          </p:cNvPr>
          <p:cNvSpPr>
            <a:spLocks noGrp="1"/>
          </p:cNvSpPr>
          <p:nvPr>
            <p:ph idx="1"/>
          </p:nvPr>
        </p:nvSpPr>
        <p:spPr/>
        <p:txBody>
          <a:bodyPr/>
          <a:lstStyle/>
          <a:p>
            <a:r>
              <a:rPr lang="en-IL" dirty="0"/>
              <a:t>Customer Name</a:t>
            </a:r>
          </a:p>
          <a:p>
            <a:r>
              <a:rPr lang="en-IL" dirty="0"/>
              <a:t>Customer Representative Person</a:t>
            </a:r>
          </a:p>
          <a:p>
            <a:pPr lvl="1"/>
            <a:r>
              <a:rPr lang="en-IL" dirty="0"/>
              <a:t>Role</a:t>
            </a:r>
          </a:p>
          <a:p>
            <a:pPr lvl="1"/>
            <a:r>
              <a:rPr lang="en-IL" dirty="0"/>
              <a:t>Email</a:t>
            </a:r>
          </a:p>
          <a:p>
            <a:pPr lvl="1"/>
            <a:r>
              <a:rPr lang="en-IL" dirty="0"/>
              <a:t>Phone Number</a:t>
            </a:r>
          </a:p>
          <a:p>
            <a:pPr lvl="1"/>
            <a:r>
              <a:rPr lang="en-IL" dirty="0"/>
              <a:t>Address</a:t>
            </a:r>
          </a:p>
          <a:p>
            <a:r>
              <a:rPr lang="en-IL" dirty="0"/>
              <a:t>More Advisors?</a:t>
            </a:r>
          </a:p>
        </p:txBody>
      </p:sp>
      <p:sp>
        <p:nvSpPr>
          <p:cNvPr id="4" name="Slide Number Placeholder 3">
            <a:extLst>
              <a:ext uri="{FF2B5EF4-FFF2-40B4-BE49-F238E27FC236}">
                <a16:creationId xmlns:a16="http://schemas.microsoft.com/office/drawing/2014/main" id="{EDC5CD4A-3EDD-F594-E77B-4A170C9A04F5}"/>
              </a:ext>
            </a:extLst>
          </p:cNvPr>
          <p:cNvSpPr>
            <a:spLocks noGrp="1"/>
          </p:cNvSpPr>
          <p:nvPr>
            <p:ph type="sldNum" sz="quarter" idx="12"/>
          </p:nvPr>
        </p:nvSpPr>
        <p:spPr/>
        <p:txBody>
          <a:bodyPr/>
          <a:lstStyle/>
          <a:p>
            <a:fld id="{98B7615F-E33B-3848-BD22-4AC293A6C7B8}" type="slidenum">
              <a:rPr lang="en-IL" smtClean="0"/>
              <a:t>3</a:t>
            </a:fld>
            <a:endParaRPr lang="en-IL"/>
          </a:p>
        </p:txBody>
      </p:sp>
    </p:spTree>
    <p:extLst>
      <p:ext uri="{BB962C8B-B14F-4D97-AF65-F5344CB8AC3E}">
        <p14:creationId xmlns:p14="http://schemas.microsoft.com/office/powerpoint/2010/main" val="865093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89B0-98FC-59C4-32EC-FC1BB3D9D283}"/>
              </a:ext>
            </a:extLst>
          </p:cNvPr>
          <p:cNvSpPr>
            <a:spLocks noGrp="1"/>
          </p:cNvSpPr>
          <p:nvPr>
            <p:ph type="title"/>
          </p:nvPr>
        </p:nvSpPr>
        <p:spPr/>
        <p:txBody>
          <a:bodyPr/>
          <a:lstStyle/>
          <a:p>
            <a:r>
              <a:rPr lang="en-IL" dirty="0">
                <a:solidFill>
                  <a:schemeClr val="accent4"/>
                </a:solidFill>
              </a:rPr>
              <a:t>Introduction</a:t>
            </a:r>
          </a:p>
        </p:txBody>
      </p:sp>
      <p:sp>
        <p:nvSpPr>
          <p:cNvPr id="3" name="Content Placeholder 2">
            <a:extLst>
              <a:ext uri="{FF2B5EF4-FFF2-40B4-BE49-F238E27FC236}">
                <a16:creationId xmlns:a16="http://schemas.microsoft.com/office/drawing/2014/main" id="{EA60053F-14CA-E694-9B80-E95BE89E2BF9}"/>
              </a:ext>
            </a:extLst>
          </p:cNvPr>
          <p:cNvSpPr>
            <a:spLocks noGrp="1"/>
          </p:cNvSpPr>
          <p:nvPr>
            <p:ph idx="1"/>
          </p:nvPr>
        </p:nvSpPr>
        <p:spPr/>
        <p:txBody>
          <a:bodyPr/>
          <a:lstStyle/>
          <a:p>
            <a:r>
              <a:rPr lang="en-US" b="1" dirty="0"/>
              <a:t>Public transportation cost: </a:t>
            </a:r>
            <a:r>
              <a:rPr lang="en-US" dirty="0"/>
              <a:t>Cost rises each year.</a:t>
            </a:r>
            <a:endParaRPr lang="en-US" b="1" dirty="0"/>
          </a:p>
          <a:p>
            <a:r>
              <a:rPr lang="en-US" b="1" dirty="0"/>
              <a:t>No organized platform: </a:t>
            </a:r>
            <a:r>
              <a:rPr lang="en-US" dirty="0" err="1"/>
              <a:t>Whatsapp</a:t>
            </a:r>
            <a:r>
              <a:rPr lang="en-US" dirty="0"/>
              <a:t> is commonly used.</a:t>
            </a:r>
            <a:endParaRPr lang="en-US" b="1" dirty="0"/>
          </a:p>
          <a:p>
            <a:r>
              <a:rPr lang="en-US" b="1" dirty="0"/>
              <a:t>Safety: </a:t>
            </a:r>
            <a:r>
              <a:rPr lang="en-US" dirty="0"/>
              <a:t>hitchhiking with strangers may be dangerous.</a:t>
            </a:r>
            <a:endParaRPr lang="en-IL" b="1" dirty="0"/>
          </a:p>
        </p:txBody>
      </p:sp>
      <p:sp>
        <p:nvSpPr>
          <p:cNvPr id="4" name="Slide Number Placeholder 3">
            <a:extLst>
              <a:ext uri="{FF2B5EF4-FFF2-40B4-BE49-F238E27FC236}">
                <a16:creationId xmlns:a16="http://schemas.microsoft.com/office/drawing/2014/main" id="{71BA3BF8-7833-E8D5-D525-7E55E98E0C3F}"/>
              </a:ext>
            </a:extLst>
          </p:cNvPr>
          <p:cNvSpPr>
            <a:spLocks noGrp="1"/>
          </p:cNvSpPr>
          <p:nvPr>
            <p:ph type="sldNum" sz="quarter" idx="12"/>
          </p:nvPr>
        </p:nvSpPr>
        <p:spPr/>
        <p:txBody>
          <a:bodyPr/>
          <a:lstStyle/>
          <a:p>
            <a:fld id="{98B7615F-E33B-3848-BD22-4AC293A6C7B8}" type="slidenum">
              <a:rPr lang="en-IL" smtClean="0"/>
              <a:t>4</a:t>
            </a:fld>
            <a:endParaRPr lang="en-IL"/>
          </a:p>
        </p:txBody>
      </p:sp>
    </p:spTree>
    <p:extLst>
      <p:ext uri="{BB962C8B-B14F-4D97-AF65-F5344CB8AC3E}">
        <p14:creationId xmlns:p14="http://schemas.microsoft.com/office/powerpoint/2010/main" val="1767475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84653-5E25-1B85-1482-ACD0F148A951}"/>
              </a:ext>
            </a:extLst>
          </p:cNvPr>
          <p:cNvSpPr>
            <a:spLocks noGrp="1"/>
          </p:cNvSpPr>
          <p:nvPr>
            <p:ph type="title"/>
          </p:nvPr>
        </p:nvSpPr>
        <p:spPr/>
        <p:txBody>
          <a:bodyPr/>
          <a:lstStyle/>
          <a:p>
            <a:r>
              <a:rPr lang="en-IL" dirty="0">
                <a:solidFill>
                  <a:schemeClr val="accent4"/>
                </a:solidFill>
              </a:rPr>
              <a:t>Project’s Motivation and Purpose</a:t>
            </a:r>
          </a:p>
        </p:txBody>
      </p:sp>
      <p:sp>
        <p:nvSpPr>
          <p:cNvPr id="3" name="Content Placeholder 2">
            <a:extLst>
              <a:ext uri="{FF2B5EF4-FFF2-40B4-BE49-F238E27FC236}">
                <a16:creationId xmlns:a16="http://schemas.microsoft.com/office/drawing/2014/main" id="{55B5C088-388E-D5AC-A306-A3D6B57F8B32}"/>
              </a:ext>
            </a:extLst>
          </p:cNvPr>
          <p:cNvSpPr>
            <a:spLocks noGrp="1"/>
          </p:cNvSpPr>
          <p:nvPr>
            <p:ph idx="1"/>
          </p:nvPr>
        </p:nvSpPr>
        <p:spPr>
          <a:xfrm>
            <a:off x="146304" y="1597152"/>
            <a:ext cx="12192000" cy="5455920"/>
          </a:xfrm>
        </p:spPr>
        <p:txBody>
          <a:bodyPr>
            <a:normAutofit lnSpcReduction="10000"/>
          </a:bodyPr>
          <a:lstStyle/>
          <a:p>
            <a:pPr marL="0" indent="0">
              <a:buNone/>
            </a:pPr>
            <a:r>
              <a:rPr lang="en-US" sz="2600" b="1" dirty="0"/>
              <a:t>Motivation</a:t>
            </a:r>
            <a:r>
              <a:rPr lang="en-US" sz="2600" dirty="0"/>
              <a:t>:</a:t>
            </a:r>
          </a:p>
          <a:p>
            <a:r>
              <a:rPr lang="en-US" sz="2600" dirty="0"/>
              <a:t>Today, students use </a:t>
            </a:r>
            <a:r>
              <a:rPr lang="en-US" sz="2600" dirty="0" err="1"/>
              <a:t>whatsapp</a:t>
            </a:r>
            <a:r>
              <a:rPr lang="en-US" sz="2600" dirty="0"/>
              <a:t> to find hitchhikes which is inconvenient and not very reliable.</a:t>
            </a:r>
          </a:p>
          <a:p>
            <a:r>
              <a:rPr lang="en-US" sz="2600" dirty="0"/>
              <a:t>Many students can’t afford to regularly take the bus or the train in order to mobilize to or from their destination.</a:t>
            </a:r>
          </a:p>
          <a:p>
            <a:r>
              <a:rPr lang="en-US" sz="2600" dirty="0"/>
              <a:t>Many students take hitchhikes from unfamiliar people which can lead to dangerous situations.  </a:t>
            </a:r>
          </a:p>
          <a:p>
            <a:pPr marL="0" indent="0">
              <a:buNone/>
            </a:pPr>
            <a:r>
              <a:rPr lang="en" sz="2600" b="1" dirty="0">
                <a:solidFill>
                  <a:srgbClr val="000000"/>
                </a:solidFill>
              </a:rPr>
              <a:t>Purpose / Goals:</a:t>
            </a:r>
          </a:p>
          <a:p>
            <a:r>
              <a:rPr lang="en-US" dirty="0"/>
              <a:t>Help users </a:t>
            </a:r>
            <a:r>
              <a:rPr lang="en-US" b="1" dirty="0"/>
              <a:t>find reliable hitchhikes </a:t>
            </a:r>
            <a:r>
              <a:rPr lang="en-US" dirty="0"/>
              <a:t>using a designated platform.</a:t>
            </a:r>
          </a:p>
          <a:p>
            <a:r>
              <a:rPr lang="en-US" dirty="0"/>
              <a:t>Provide </a:t>
            </a:r>
            <a:r>
              <a:rPr lang="en-US" b="1" dirty="0"/>
              <a:t>transparent information</a:t>
            </a:r>
            <a:r>
              <a:rPr lang="en-US" dirty="0"/>
              <a:t> about the drivers and hitchhikers.</a:t>
            </a:r>
          </a:p>
          <a:p>
            <a:r>
              <a:rPr lang="en-US" dirty="0"/>
              <a:t>Help students </a:t>
            </a:r>
            <a:r>
              <a:rPr lang="en-US" b="1" dirty="0"/>
              <a:t>cut costs</a:t>
            </a:r>
            <a:r>
              <a:rPr lang="en-US" dirty="0"/>
              <a:t> when using hitchhikes.</a:t>
            </a:r>
          </a:p>
          <a:p>
            <a:r>
              <a:rPr lang="en-US" dirty="0"/>
              <a:t>Encourage </a:t>
            </a:r>
            <a:r>
              <a:rPr lang="en-US" b="1" dirty="0"/>
              <a:t>friendly and respectful behavior</a:t>
            </a:r>
            <a:r>
              <a:rPr lang="en-US" dirty="0"/>
              <a:t> among drivers and hitchhikers.</a:t>
            </a:r>
          </a:p>
          <a:p>
            <a:endParaRPr lang="en-US" dirty="0"/>
          </a:p>
          <a:p>
            <a:endParaRPr lang="en-IL" dirty="0"/>
          </a:p>
        </p:txBody>
      </p:sp>
      <p:sp>
        <p:nvSpPr>
          <p:cNvPr id="4" name="Slide Number Placeholder 3">
            <a:extLst>
              <a:ext uri="{FF2B5EF4-FFF2-40B4-BE49-F238E27FC236}">
                <a16:creationId xmlns:a16="http://schemas.microsoft.com/office/drawing/2014/main" id="{5C3A393B-0EC3-1016-5397-630E8D8C95AC}"/>
              </a:ext>
            </a:extLst>
          </p:cNvPr>
          <p:cNvSpPr>
            <a:spLocks noGrp="1"/>
          </p:cNvSpPr>
          <p:nvPr>
            <p:ph type="sldNum" sz="quarter" idx="12"/>
          </p:nvPr>
        </p:nvSpPr>
        <p:spPr/>
        <p:txBody>
          <a:bodyPr/>
          <a:lstStyle/>
          <a:p>
            <a:fld id="{98B7615F-E33B-3848-BD22-4AC293A6C7B8}" type="slidenum">
              <a:rPr lang="en-IL" smtClean="0"/>
              <a:t>5</a:t>
            </a:fld>
            <a:endParaRPr lang="en-IL"/>
          </a:p>
        </p:txBody>
      </p:sp>
    </p:spTree>
    <p:extLst>
      <p:ext uri="{BB962C8B-B14F-4D97-AF65-F5344CB8AC3E}">
        <p14:creationId xmlns:p14="http://schemas.microsoft.com/office/powerpoint/2010/main" val="758891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845C5-8074-14A7-86D0-5DA626486852}"/>
              </a:ext>
            </a:extLst>
          </p:cNvPr>
          <p:cNvSpPr>
            <a:spLocks noGrp="1"/>
          </p:cNvSpPr>
          <p:nvPr>
            <p:ph type="title"/>
          </p:nvPr>
        </p:nvSpPr>
        <p:spPr/>
        <p:txBody>
          <a:bodyPr/>
          <a:lstStyle/>
          <a:p>
            <a:r>
              <a:rPr lang="en-IL" dirty="0">
                <a:solidFill>
                  <a:schemeClr val="accent4"/>
                </a:solidFill>
              </a:rPr>
              <a:t>Project Description</a:t>
            </a:r>
          </a:p>
        </p:txBody>
      </p:sp>
      <p:sp>
        <p:nvSpPr>
          <p:cNvPr id="3" name="Content Placeholder 2">
            <a:extLst>
              <a:ext uri="{FF2B5EF4-FFF2-40B4-BE49-F238E27FC236}">
                <a16:creationId xmlns:a16="http://schemas.microsoft.com/office/drawing/2014/main" id="{0AE9EDCC-84F0-F15A-6F15-86E18F2FF97D}"/>
              </a:ext>
            </a:extLst>
          </p:cNvPr>
          <p:cNvSpPr>
            <a:spLocks noGrp="1"/>
          </p:cNvSpPr>
          <p:nvPr>
            <p:ph idx="1"/>
          </p:nvPr>
        </p:nvSpPr>
        <p:spPr>
          <a:xfrm>
            <a:off x="838200" y="1825625"/>
            <a:ext cx="10515600" cy="4667250"/>
          </a:xfrm>
        </p:spPr>
        <p:txBody>
          <a:bodyPr>
            <a:normAutofit/>
          </a:bodyPr>
          <a:lstStyle/>
          <a:p>
            <a:r>
              <a:rPr lang="en" b="1" dirty="0">
                <a:solidFill>
                  <a:srgbClr val="000000"/>
                </a:solidFill>
              </a:rPr>
              <a:t>What will be developed?</a:t>
            </a:r>
            <a:endParaRPr lang="en" dirty="0">
              <a:solidFill>
                <a:srgbClr val="000000"/>
              </a:solidFill>
            </a:endParaRPr>
          </a:p>
          <a:p>
            <a:pPr marL="742950" lvl="1" indent="-285750"/>
            <a:r>
              <a:rPr lang="en" dirty="0">
                <a:solidFill>
                  <a:srgbClr val="000000"/>
                </a:solidFill>
              </a:rPr>
              <a:t>A mobile</a:t>
            </a:r>
            <a:r>
              <a:rPr lang="he-IL" dirty="0">
                <a:solidFill>
                  <a:srgbClr val="000000"/>
                </a:solidFill>
              </a:rPr>
              <a:t> </a:t>
            </a:r>
            <a:r>
              <a:rPr lang="en" dirty="0">
                <a:solidFill>
                  <a:srgbClr val="000000"/>
                </a:solidFill>
              </a:rPr>
              <a:t>app for student hitchhiking.</a:t>
            </a:r>
          </a:p>
          <a:p>
            <a:pPr marL="742950" lvl="1" indent="-285750"/>
            <a:r>
              <a:rPr lang="en" dirty="0">
                <a:solidFill>
                  <a:srgbClr val="000000"/>
                </a:solidFill>
              </a:rPr>
              <a:t>User-friendly UI + backend API &amp; database.</a:t>
            </a:r>
          </a:p>
          <a:p>
            <a:r>
              <a:rPr lang="en" b="1" dirty="0">
                <a:solidFill>
                  <a:srgbClr val="000000"/>
                </a:solidFill>
              </a:rPr>
              <a:t>High-level functionality</a:t>
            </a:r>
            <a:endParaRPr lang="en" dirty="0">
              <a:solidFill>
                <a:srgbClr val="000000"/>
              </a:solidFill>
            </a:endParaRPr>
          </a:p>
          <a:p>
            <a:pPr marL="742950" lvl="1" indent="-285750"/>
            <a:r>
              <a:rPr lang="en" dirty="0">
                <a:solidFill>
                  <a:srgbClr val="000000"/>
                </a:solidFill>
              </a:rPr>
              <a:t>Users management and verification – drives and hitchhikers.</a:t>
            </a:r>
          </a:p>
          <a:p>
            <a:pPr marL="742950" lvl="1" indent="-285750"/>
            <a:r>
              <a:rPr lang="en-US" dirty="0">
                <a:solidFill>
                  <a:srgbClr val="000000"/>
                </a:solidFill>
              </a:rPr>
              <a:t>G</a:t>
            </a:r>
            <a:r>
              <a:rPr lang="en" dirty="0">
                <a:solidFill>
                  <a:srgbClr val="000000"/>
                </a:solidFill>
              </a:rPr>
              <a:t>roup management – according to area, destination and other preferances.</a:t>
            </a:r>
          </a:p>
          <a:p>
            <a:pPr marL="742950" lvl="1" indent="-285750"/>
            <a:r>
              <a:rPr lang="en" dirty="0">
                <a:solidFill>
                  <a:srgbClr val="000000"/>
                </a:solidFill>
              </a:rPr>
              <a:t>Ranking system – based on user experience.</a:t>
            </a:r>
          </a:p>
          <a:p>
            <a:pPr marL="742950" lvl="1" indent="-285750"/>
            <a:r>
              <a:rPr lang="en-US" dirty="0">
                <a:solidFill>
                  <a:srgbClr val="000000"/>
                </a:solidFill>
              </a:rPr>
              <a:t>Ride creation, search and matching.</a:t>
            </a:r>
            <a:endParaRPr lang="en" dirty="0">
              <a:solidFill>
                <a:srgbClr val="000000"/>
              </a:solidFill>
            </a:endParaRPr>
          </a:p>
          <a:p>
            <a:pPr marL="742950" lvl="1" indent="-285750"/>
            <a:r>
              <a:rPr lang="en" dirty="0">
                <a:solidFill>
                  <a:srgbClr val="000000"/>
                </a:solidFill>
              </a:rPr>
              <a:t>Schedualed and recurring rides.</a:t>
            </a:r>
          </a:p>
          <a:p>
            <a:pPr lvl="1"/>
            <a:r>
              <a:rPr lang="en-US" dirty="0"/>
              <a:t>Real time tracking.</a:t>
            </a:r>
          </a:p>
          <a:p>
            <a:pPr lvl="1"/>
            <a:r>
              <a:rPr lang="en-US" dirty="0"/>
              <a:t>Trip management and communication between uses.</a:t>
            </a:r>
            <a:endParaRPr lang="en-IL" dirty="0"/>
          </a:p>
          <a:p>
            <a:pPr marL="457200" lvl="1" indent="0">
              <a:buNone/>
            </a:pPr>
            <a:endParaRPr lang="en" dirty="0">
              <a:solidFill>
                <a:srgbClr val="000000"/>
              </a:solidFill>
            </a:endParaRPr>
          </a:p>
          <a:p>
            <a:pPr lvl="1"/>
            <a:endParaRPr lang="en-IL" dirty="0"/>
          </a:p>
          <a:p>
            <a:pPr lvl="1"/>
            <a:endParaRPr lang="en-IL" dirty="0"/>
          </a:p>
        </p:txBody>
      </p:sp>
      <p:sp>
        <p:nvSpPr>
          <p:cNvPr id="4" name="Slide Number Placeholder 3">
            <a:extLst>
              <a:ext uri="{FF2B5EF4-FFF2-40B4-BE49-F238E27FC236}">
                <a16:creationId xmlns:a16="http://schemas.microsoft.com/office/drawing/2014/main" id="{A59F931C-1084-F9C7-F48C-C0C9E36E3E8A}"/>
              </a:ext>
            </a:extLst>
          </p:cNvPr>
          <p:cNvSpPr>
            <a:spLocks noGrp="1"/>
          </p:cNvSpPr>
          <p:nvPr>
            <p:ph type="sldNum" sz="quarter" idx="12"/>
          </p:nvPr>
        </p:nvSpPr>
        <p:spPr/>
        <p:txBody>
          <a:bodyPr/>
          <a:lstStyle/>
          <a:p>
            <a:fld id="{98B7615F-E33B-3848-BD22-4AC293A6C7B8}" type="slidenum">
              <a:rPr lang="en-IL" smtClean="0"/>
              <a:t>6</a:t>
            </a:fld>
            <a:endParaRPr lang="en-IL"/>
          </a:p>
        </p:txBody>
      </p:sp>
    </p:spTree>
    <p:extLst>
      <p:ext uri="{BB962C8B-B14F-4D97-AF65-F5344CB8AC3E}">
        <p14:creationId xmlns:p14="http://schemas.microsoft.com/office/powerpoint/2010/main" val="3050315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6E82-7957-9142-A0D9-A39C108B9E16}"/>
              </a:ext>
            </a:extLst>
          </p:cNvPr>
          <p:cNvSpPr>
            <a:spLocks noGrp="1"/>
          </p:cNvSpPr>
          <p:nvPr>
            <p:ph type="title"/>
          </p:nvPr>
        </p:nvSpPr>
        <p:spPr/>
        <p:txBody>
          <a:bodyPr/>
          <a:lstStyle/>
          <a:p>
            <a:r>
              <a:rPr lang="en-IL" dirty="0">
                <a:solidFill>
                  <a:schemeClr val="accent4"/>
                </a:solidFill>
              </a:rPr>
              <a:t>Customer – what exists? </a:t>
            </a:r>
            <a:r>
              <a:rPr lang="en-US" dirty="0">
                <a:solidFill>
                  <a:schemeClr val="accent4"/>
                </a:solidFill>
              </a:rPr>
              <a:t>W</a:t>
            </a:r>
            <a:r>
              <a:rPr lang="en-IL" dirty="0">
                <a:solidFill>
                  <a:schemeClr val="accent4"/>
                </a:solidFill>
              </a:rPr>
              <a:t>hat provides?</a:t>
            </a:r>
          </a:p>
        </p:txBody>
      </p:sp>
      <p:sp>
        <p:nvSpPr>
          <p:cNvPr id="3" name="Content Placeholder 2">
            <a:extLst>
              <a:ext uri="{FF2B5EF4-FFF2-40B4-BE49-F238E27FC236}">
                <a16:creationId xmlns:a16="http://schemas.microsoft.com/office/drawing/2014/main" id="{7112466B-AB51-5FE6-B845-5BFFF2C709A7}"/>
              </a:ext>
            </a:extLst>
          </p:cNvPr>
          <p:cNvSpPr>
            <a:spLocks noGrp="1"/>
          </p:cNvSpPr>
          <p:nvPr>
            <p:ph idx="1"/>
          </p:nvPr>
        </p:nvSpPr>
        <p:spPr/>
        <p:txBody>
          <a:bodyPr/>
          <a:lstStyle/>
          <a:p>
            <a:r>
              <a:rPr lang="en-US" dirty="0"/>
              <a:t>What exists?</a:t>
            </a:r>
            <a:br>
              <a:rPr lang="en-US" dirty="0"/>
            </a:br>
            <a:r>
              <a:rPr lang="en-US" sz="1800" dirty="0" err="1"/>
              <a:t>Moovit</a:t>
            </a:r>
            <a:r>
              <a:rPr lang="en-US" sz="1800" dirty="0"/>
              <a:t> had in the past a carpooling service which is now unavailable anymore.</a:t>
            </a:r>
            <a:br>
              <a:rPr lang="en-US" sz="1800" dirty="0"/>
            </a:br>
            <a:br>
              <a:rPr lang="en-US" sz="1800" dirty="0"/>
            </a:br>
            <a:r>
              <a:rPr lang="en-US" sz="1800" dirty="0"/>
              <a:t>Today, students find hitchhikes using Facebook or </a:t>
            </a:r>
            <a:r>
              <a:rPr lang="en-US" sz="1800" dirty="0" err="1"/>
              <a:t>Whatsapp</a:t>
            </a:r>
            <a:r>
              <a:rPr lang="en-US" sz="1800" dirty="0"/>
              <a:t> mainly.</a:t>
            </a:r>
            <a:br>
              <a:rPr lang="en-US" sz="1800" dirty="0"/>
            </a:br>
            <a:br>
              <a:rPr lang="en-US" sz="1800" dirty="0"/>
            </a:br>
            <a:r>
              <a:rPr lang="en-US" sz="1800" dirty="0"/>
              <a:t>There isn’t a functioning app for hitchhiking in Israel today and </a:t>
            </a:r>
            <a:r>
              <a:rPr lang="en-US" sz="1800" dirty="0" err="1"/>
              <a:t>specificaly</a:t>
            </a:r>
            <a:r>
              <a:rPr lang="en-US" sz="1800" dirty="0"/>
              <a:t> there isn’t one for students.</a:t>
            </a:r>
            <a:endParaRPr lang="en-IL" dirty="0"/>
          </a:p>
          <a:p>
            <a:pPr lvl="1"/>
            <a:endParaRPr lang="en-IL" dirty="0"/>
          </a:p>
        </p:txBody>
      </p:sp>
      <p:sp>
        <p:nvSpPr>
          <p:cNvPr id="4" name="Slide Number Placeholder 3">
            <a:extLst>
              <a:ext uri="{FF2B5EF4-FFF2-40B4-BE49-F238E27FC236}">
                <a16:creationId xmlns:a16="http://schemas.microsoft.com/office/drawing/2014/main" id="{89875250-5DF3-1D71-6C3D-406142F5128E}"/>
              </a:ext>
            </a:extLst>
          </p:cNvPr>
          <p:cNvSpPr>
            <a:spLocks noGrp="1"/>
          </p:cNvSpPr>
          <p:nvPr>
            <p:ph type="sldNum" sz="quarter" idx="12"/>
          </p:nvPr>
        </p:nvSpPr>
        <p:spPr/>
        <p:txBody>
          <a:bodyPr/>
          <a:lstStyle/>
          <a:p>
            <a:fld id="{98B7615F-E33B-3848-BD22-4AC293A6C7B8}" type="slidenum">
              <a:rPr lang="en-IL" smtClean="0"/>
              <a:t>7</a:t>
            </a:fld>
            <a:endParaRPr lang="en-IL"/>
          </a:p>
        </p:txBody>
      </p:sp>
    </p:spTree>
    <p:extLst>
      <p:ext uri="{BB962C8B-B14F-4D97-AF65-F5344CB8AC3E}">
        <p14:creationId xmlns:p14="http://schemas.microsoft.com/office/powerpoint/2010/main" val="2522909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62BCB-FD45-75F5-3FD6-9E8B900AD88C}"/>
              </a:ext>
            </a:extLst>
          </p:cNvPr>
          <p:cNvSpPr>
            <a:spLocks noGrp="1"/>
          </p:cNvSpPr>
          <p:nvPr>
            <p:ph type="title"/>
          </p:nvPr>
        </p:nvSpPr>
        <p:spPr/>
        <p:txBody>
          <a:bodyPr/>
          <a:lstStyle/>
          <a:p>
            <a:r>
              <a:rPr lang="en-IL">
                <a:solidFill>
                  <a:schemeClr val="accent4"/>
                </a:solidFill>
              </a:rPr>
              <a:t>Project’s Risk Assesment </a:t>
            </a:r>
            <a:br>
              <a:rPr lang="en-IL">
                <a:solidFill>
                  <a:schemeClr val="accent4"/>
                </a:solidFill>
              </a:rPr>
            </a:br>
            <a:r>
              <a:rPr lang="en-IL">
                <a:solidFill>
                  <a:schemeClr val="accent4"/>
                </a:solidFill>
              </a:rPr>
              <a:t>(</a:t>
            </a:r>
            <a:r>
              <a:rPr lang="en-IL" dirty="0">
                <a:solidFill>
                  <a:schemeClr val="accent4"/>
                </a:solidFill>
              </a:rPr>
              <a:t>and how to overcome)</a:t>
            </a:r>
          </a:p>
        </p:txBody>
      </p:sp>
      <p:graphicFrame>
        <p:nvGraphicFramePr>
          <p:cNvPr id="5" name="Table 5">
            <a:extLst>
              <a:ext uri="{FF2B5EF4-FFF2-40B4-BE49-F238E27FC236}">
                <a16:creationId xmlns:a16="http://schemas.microsoft.com/office/drawing/2014/main" id="{5AD1B856-8CC0-F629-D5B7-1AD4A598A8B2}"/>
              </a:ext>
            </a:extLst>
          </p:cNvPr>
          <p:cNvGraphicFramePr>
            <a:graphicFrameLocks noGrp="1"/>
          </p:cNvGraphicFramePr>
          <p:nvPr>
            <p:ph idx="1"/>
            <p:extLst>
              <p:ext uri="{D42A27DB-BD31-4B8C-83A1-F6EECF244321}">
                <p14:modId xmlns:p14="http://schemas.microsoft.com/office/powerpoint/2010/main" val="1313619489"/>
              </p:ext>
            </p:extLst>
          </p:nvPr>
        </p:nvGraphicFramePr>
        <p:xfrm>
          <a:off x="838200" y="3021379"/>
          <a:ext cx="10515600" cy="3388360"/>
        </p:xfrm>
        <a:graphic>
          <a:graphicData uri="http://schemas.openxmlformats.org/drawingml/2006/table">
            <a:tbl>
              <a:tblPr firstRow="1" bandRow="1">
                <a:tableStyleId>{21E4AEA4-8DFA-4A89-87EB-49C32662AFE0}</a:tableStyleId>
              </a:tblPr>
              <a:tblGrid>
                <a:gridCol w="5257800">
                  <a:extLst>
                    <a:ext uri="{9D8B030D-6E8A-4147-A177-3AD203B41FA5}">
                      <a16:colId xmlns:a16="http://schemas.microsoft.com/office/drawing/2014/main" val="4244167213"/>
                    </a:ext>
                  </a:extLst>
                </a:gridCol>
                <a:gridCol w="5257800">
                  <a:extLst>
                    <a:ext uri="{9D8B030D-6E8A-4147-A177-3AD203B41FA5}">
                      <a16:colId xmlns:a16="http://schemas.microsoft.com/office/drawing/2014/main" val="26083179"/>
                    </a:ext>
                  </a:extLst>
                </a:gridCol>
              </a:tblGrid>
              <a:tr h="370840">
                <a:tc>
                  <a:txBody>
                    <a:bodyPr/>
                    <a:lstStyle/>
                    <a:p>
                      <a:r>
                        <a:rPr lang="en-IL" dirty="0"/>
                        <a:t>Challenge</a:t>
                      </a:r>
                    </a:p>
                  </a:txBody>
                  <a:tcPr/>
                </a:tc>
                <a:tc>
                  <a:txBody>
                    <a:bodyPr/>
                    <a:lstStyle/>
                    <a:p>
                      <a:r>
                        <a:rPr lang="en-IL" dirty="0"/>
                        <a:t>How to overcome?</a:t>
                      </a:r>
                    </a:p>
                  </a:txBody>
                  <a:tcPr/>
                </a:tc>
                <a:extLst>
                  <a:ext uri="{0D108BD9-81ED-4DB2-BD59-A6C34878D82A}">
                    <a16:rowId xmlns:a16="http://schemas.microsoft.com/office/drawing/2014/main" val="3736699948"/>
                  </a:ext>
                </a:extLst>
              </a:tr>
              <a:tr h="370840">
                <a:tc>
                  <a:txBody>
                    <a:bodyPr/>
                    <a:lstStyle/>
                    <a:p>
                      <a:r>
                        <a:rPr lang="en-US" dirty="0"/>
                        <a:t>Physical safety and misidentification.</a:t>
                      </a:r>
                      <a:endParaRPr lang="en-IL" dirty="0"/>
                    </a:p>
                  </a:txBody>
                  <a:tcPr/>
                </a:tc>
                <a:tc>
                  <a:txBody>
                    <a:bodyPr/>
                    <a:lstStyle/>
                    <a:p>
                      <a:pPr marL="0" algn="l" defTabSz="914400" rtl="1" eaLnBrk="1" latinLnBrk="0" hangingPunct="1"/>
                      <a:r>
                        <a:rPr lang="en-US" dirty="0"/>
                        <a:t>Require each user to upload a valid student identifier in addition to an ID card. Add live GPS tracking for the entire trip visible to the passengers and sharable to other trusted people.</a:t>
                      </a:r>
                      <a:endParaRPr lang="en-IL" dirty="0"/>
                    </a:p>
                  </a:txBody>
                  <a:tcPr/>
                </a:tc>
                <a:extLst>
                  <a:ext uri="{0D108BD9-81ED-4DB2-BD59-A6C34878D82A}">
                    <a16:rowId xmlns:a16="http://schemas.microsoft.com/office/drawing/2014/main" val="33982769"/>
                  </a:ext>
                </a:extLst>
              </a:tr>
              <a:tr h="370840">
                <a:tc>
                  <a:txBody>
                    <a:bodyPr/>
                    <a:lstStyle/>
                    <a:p>
                      <a:r>
                        <a:rPr lang="en-US" dirty="0"/>
                        <a:t>Data privacy and misuse of location data.</a:t>
                      </a:r>
                      <a:endParaRPr lang="en-IL" dirty="0"/>
                    </a:p>
                  </a:txBody>
                  <a:tcPr/>
                </a:tc>
                <a:tc>
                  <a:txBody>
                    <a:bodyPr/>
                    <a:lstStyle/>
                    <a:p>
                      <a:r>
                        <a:rPr lang="en-US" dirty="0"/>
                        <a:t>Only collect and store data absolutely necessary for app functionality. Use end to end encryption and secure hashing/tokenization for all sensitive data.</a:t>
                      </a:r>
                      <a:endParaRPr lang="en-IL" dirty="0"/>
                    </a:p>
                  </a:txBody>
                  <a:tcPr/>
                </a:tc>
                <a:extLst>
                  <a:ext uri="{0D108BD9-81ED-4DB2-BD59-A6C34878D82A}">
                    <a16:rowId xmlns:a16="http://schemas.microsoft.com/office/drawing/2014/main" val="1931031082"/>
                  </a:ext>
                </a:extLst>
              </a:tr>
              <a:tr h="370840">
                <a:tc>
                  <a:txBody>
                    <a:bodyPr/>
                    <a:lstStyle/>
                    <a:p>
                      <a:r>
                        <a:rPr lang="en-US" dirty="0"/>
                        <a:t>Keeping track of location in real time.</a:t>
                      </a:r>
                      <a:endParaRPr lang="en-IL" dirty="0"/>
                    </a:p>
                  </a:txBody>
                  <a:tcPr/>
                </a:tc>
                <a:tc>
                  <a:txBody>
                    <a:bodyPr/>
                    <a:lstStyle/>
                    <a:p>
                      <a:r>
                        <a:rPr lang="en-US" dirty="0"/>
                        <a:t>We will use some existing tools such as Google Maps SDK and </a:t>
                      </a:r>
                      <a:r>
                        <a:rPr lang="en-US" sz="1800" b="0" i="0" kern="1200" dirty="0" err="1">
                          <a:solidFill>
                            <a:schemeClr val="dk1"/>
                          </a:solidFill>
                          <a:effectLst/>
                          <a:latin typeface="+mn-lt"/>
                          <a:ea typeface="+mn-ea"/>
                          <a:cs typeface="+mn-cs"/>
                        </a:rPr>
                        <a:t>FusedLocationProviderClient</a:t>
                      </a:r>
                      <a:r>
                        <a:rPr lang="en-US" sz="1800" b="0" i="0" kern="1200" dirty="0">
                          <a:solidFill>
                            <a:schemeClr val="dk1"/>
                          </a:solidFill>
                          <a:effectLst/>
                          <a:latin typeface="+mn-lt"/>
                          <a:ea typeface="+mn-ea"/>
                          <a:cs typeface="+mn-cs"/>
                        </a:rPr>
                        <a:t> to track the location of rides in real time.</a:t>
                      </a:r>
                      <a:endParaRPr lang="en-IL" dirty="0"/>
                    </a:p>
                  </a:txBody>
                  <a:tcPr/>
                </a:tc>
                <a:extLst>
                  <a:ext uri="{0D108BD9-81ED-4DB2-BD59-A6C34878D82A}">
                    <a16:rowId xmlns:a16="http://schemas.microsoft.com/office/drawing/2014/main" val="1566291749"/>
                  </a:ext>
                </a:extLst>
              </a:tr>
            </a:tbl>
          </a:graphicData>
        </a:graphic>
      </p:graphicFrame>
      <p:sp>
        <p:nvSpPr>
          <p:cNvPr id="3" name="Slide Number Placeholder 2">
            <a:extLst>
              <a:ext uri="{FF2B5EF4-FFF2-40B4-BE49-F238E27FC236}">
                <a16:creationId xmlns:a16="http://schemas.microsoft.com/office/drawing/2014/main" id="{686C9E9E-B8AD-A5D9-08B5-71A317D0EF7E}"/>
              </a:ext>
            </a:extLst>
          </p:cNvPr>
          <p:cNvSpPr>
            <a:spLocks noGrp="1"/>
          </p:cNvSpPr>
          <p:nvPr>
            <p:ph type="sldNum" sz="quarter" idx="12"/>
          </p:nvPr>
        </p:nvSpPr>
        <p:spPr/>
        <p:txBody>
          <a:bodyPr/>
          <a:lstStyle/>
          <a:p>
            <a:fld id="{98B7615F-E33B-3848-BD22-4AC293A6C7B8}" type="slidenum">
              <a:rPr lang="en-IL" smtClean="0"/>
              <a:t>8</a:t>
            </a:fld>
            <a:endParaRPr lang="en-IL"/>
          </a:p>
        </p:txBody>
      </p:sp>
    </p:spTree>
    <p:extLst>
      <p:ext uri="{BB962C8B-B14F-4D97-AF65-F5344CB8AC3E}">
        <p14:creationId xmlns:p14="http://schemas.microsoft.com/office/powerpoint/2010/main" val="3452746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FDA21-DED9-73A3-F008-1700FC8FC99B}"/>
              </a:ext>
            </a:extLst>
          </p:cNvPr>
          <p:cNvSpPr>
            <a:spLocks noGrp="1"/>
          </p:cNvSpPr>
          <p:nvPr>
            <p:ph type="title"/>
          </p:nvPr>
        </p:nvSpPr>
        <p:spPr/>
        <p:txBody>
          <a:bodyPr/>
          <a:lstStyle/>
          <a:p>
            <a:r>
              <a:rPr lang="en-IL" dirty="0">
                <a:solidFill>
                  <a:schemeClr val="accent4"/>
                </a:solidFill>
              </a:rPr>
              <a:t>User Interface</a:t>
            </a:r>
          </a:p>
        </p:txBody>
      </p:sp>
      <p:pic>
        <p:nvPicPr>
          <p:cNvPr id="5" name="Content Placeholder 4">
            <a:extLst>
              <a:ext uri="{FF2B5EF4-FFF2-40B4-BE49-F238E27FC236}">
                <a16:creationId xmlns:a16="http://schemas.microsoft.com/office/drawing/2014/main" id="{A28CD440-9594-DC50-7FBB-D6391A781BFD}"/>
              </a:ext>
            </a:extLst>
          </p:cNvPr>
          <p:cNvPicPr>
            <a:picLocks noGrp="1" noChangeAspect="1"/>
          </p:cNvPicPr>
          <p:nvPr>
            <p:ph idx="1"/>
          </p:nvPr>
        </p:nvPicPr>
        <p:blipFill>
          <a:blip r:embed="rId2"/>
          <a:stretch>
            <a:fillRect/>
          </a:stretch>
        </p:blipFill>
        <p:spPr>
          <a:xfrm>
            <a:off x="6457647" y="137398"/>
            <a:ext cx="2410128" cy="6355477"/>
          </a:xfrm>
        </p:spPr>
      </p:pic>
      <p:pic>
        <p:nvPicPr>
          <p:cNvPr id="7" name="Picture 6">
            <a:extLst>
              <a:ext uri="{FF2B5EF4-FFF2-40B4-BE49-F238E27FC236}">
                <a16:creationId xmlns:a16="http://schemas.microsoft.com/office/drawing/2014/main" id="{3F9FFAE6-5655-A589-FAA8-9AA8DFB43E0B}"/>
              </a:ext>
            </a:extLst>
          </p:cNvPr>
          <p:cNvPicPr>
            <a:picLocks noChangeAspect="1"/>
          </p:cNvPicPr>
          <p:nvPr/>
        </p:nvPicPr>
        <p:blipFill>
          <a:blip r:embed="rId3"/>
          <a:stretch>
            <a:fillRect/>
          </a:stretch>
        </p:blipFill>
        <p:spPr>
          <a:xfrm>
            <a:off x="4379395" y="110587"/>
            <a:ext cx="1973475" cy="6636826"/>
          </a:xfrm>
          <a:prstGeom prst="rect">
            <a:avLst/>
          </a:prstGeom>
        </p:spPr>
      </p:pic>
      <p:pic>
        <p:nvPicPr>
          <p:cNvPr id="9" name="Picture 8">
            <a:extLst>
              <a:ext uri="{FF2B5EF4-FFF2-40B4-BE49-F238E27FC236}">
                <a16:creationId xmlns:a16="http://schemas.microsoft.com/office/drawing/2014/main" id="{5B3EA046-4A89-BAF2-01F2-8920B1CDE705}"/>
              </a:ext>
            </a:extLst>
          </p:cNvPr>
          <p:cNvPicPr>
            <a:picLocks noChangeAspect="1"/>
          </p:cNvPicPr>
          <p:nvPr/>
        </p:nvPicPr>
        <p:blipFill>
          <a:blip r:embed="rId4"/>
          <a:stretch>
            <a:fillRect/>
          </a:stretch>
        </p:blipFill>
        <p:spPr>
          <a:xfrm>
            <a:off x="8972552" y="0"/>
            <a:ext cx="2750736" cy="6858000"/>
          </a:xfrm>
          <a:prstGeom prst="rect">
            <a:avLst/>
          </a:prstGeom>
        </p:spPr>
      </p:pic>
      <p:sp>
        <p:nvSpPr>
          <p:cNvPr id="3" name="Slide Number Placeholder 2">
            <a:extLst>
              <a:ext uri="{FF2B5EF4-FFF2-40B4-BE49-F238E27FC236}">
                <a16:creationId xmlns:a16="http://schemas.microsoft.com/office/drawing/2014/main" id="{4FA82146-5242-7873-A668-57EDF534389F}"/>
              </a:ext>
            </a:extLst>
          </p:cNvPr>
          <p:cNvSpPr>
            <a:spLocks noGrp="1"/>
          </p:cNvSpPr>
          <p:nvPr>
            <p:ph type="sldNum" sz="quarter" idx="12"/>
          </p:nvPr>
        </p:nvSpPr>
        <p:spPr/>
        <p:txBody>
          <a:bodyPr/>
          <a:lstStyle/>
          <a:p>
            <a:fld id="{98B7615F-E33B-3848-BD22-4AC293A6C7B8}" type="slidenum">
              <a:rPr lang="en-IL" smtClean="0"/>
              <a:t>9</a:t>
            </a:fld>
            <a:endParaRPr lang="en-IL"/>
          </a:p>
        </p:txBody>
      </p:sp>
    </p:spTree>
    <p:extLst>
      <p:ext uri="{BB962C8B-B14F-4D97-AF65-F5344CB8AC3E}">
        <p14:creationId xmlns:p14="http://schemas.microsoft.com/office/powerpoint/2010/main" val="3277453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1146-D1F6-3918-A3A5-E64AD234E6EC}"/>
              </a:ext>
            </a:extLst>
          </p:cNvPr>
          <p:cNvSpPr>
            <a:spLocks noGrp="1"/>
          </p:cNvSpPr>
          <p:nvPr>
            <p:ph type="title"/>
          </p:nvPr>
        </p:nvSpPr>
        <p:spPr/>
        <p:txBody>
          <a:bodyPr/>
          <a:lstStyle/>
          <a:p>
            <a:r>
              <a:rPr lang="en-IL" dirty="0">
                <a:solidFill>
                  <a:schemeClr val="accent4"/>
                </a:solidFill>
              </a:rPr>
              <a:t>Project’s Environments and Langugaes</a:t>
            </a:r>
          </a:p>
        </p:txBody>
      </p:sp>
      <p:sp>
        <p:nvSpPr>
          <p:cNvPr id="3" name="Content Placeholder 2">
            <a:extLst>
              <a:ext uri="{FF2B5EF4-FFF2-40B4-BE49-F238E27FC236}">
                <a16:creationId xmlns:a16="http://schemas.microsoft.com/office/drawing/2014/main" id="{B2174A37-7191-7D6E-AE1C-AA1DA5A3F5D5}"/>
              </a:ext>
            </a:extLst>
          </p:cNvPr>
          <p:cNvSpPr>
            <a:spLocks noGrp="1"/>
          </p:cNvSpPr>
          <p:nvPr>
            <p:ph idx="1"/>
          </p:nvPr>
        </p:nvSpPr>
        <p:spPr/>
        <p:txBody>
          <a:bodyPr/>
          <a:lstStyle/>
          <a:p>
            <a:r>
              <a:rPr lang="en" b="1" dirty="0">
                <a:solidFill>
                  <a:srgbClr val="000000"/>
                </a:solidFill>
              </a:rPr>
              <a:t>Mobile UI: React Native (TypeScript)</a:t>
            </a:r>
            <a:r>
              <a:rPr lang="en" dirty="0">
                <a:solidFill>
                  <a:srgbClr val="000000"/>
                </a:solidFill>
              </a:rPr>
              <a:t> – for the app screens.</a:t>
            </a:r>
            <a:endParaRPr lang="he-IL" dirty="0">
              <a:solidFill>
                <a:srgbClr val="000000"/>
              </a:solidFill>
            </a:endParaRPr>
          </a:p>
          <a:p>
            <a:r>
              <a:rPr lang="en" b="1" dirty="0">
                <a:solidFill>
                  <a:srgbClr val="000000"/>
                </a:solidFill>
              </a:rPr>
              <a:t>Backend API: Python (FastAPI)</a:t>
            </a:r>
            <a:r>
              <a:rPr lang="en" dirty="0">
                <a:solidFill>
                  <a:srgbClr val="000000"/>
                </a:solidFill>
              </a:rPr>
              <a:t> – for business logic and data flow.</a:t>
            </a:r>
            <a:endParaRPr lang="he-IL" dirty="0">
              <a:solidFill>
                <a:srgbClr val="000000"/>
              </a:solidFill>
            </a:endParaRPr>
          </a:p>
          <a:p>
            <a:r>
              <a:rPr lang="en-US" b="1" dirty="0"/>
              <a:t>GPS Tracking: Google Maps SDK and </a:t>
            </a:r>
            <a:r>
              <a:rPr lang="en-US" b="1" dirty="0" err="1">
                <a:solidFill>
                  <a:schemeClr val="dk1"/>
                </a:solidFill>
              </a:rPr>
              <a:t>FusedLocationProviderClient</a:t>
            </a:r>
            <a:r>
              <a:rPr lang="en-US" dirty="0">
                <a:solidFill>
                  <a:schemeClr val="dk1"/>
                </a:solidFill>
              </a:rPr>
              <a:t> – for real time GPS tracking.</a:t>
            </a:r>
            <a:endParaRPr lang="en-US" b="1" dirty="0">
              <a:solidFill>
                <a:schemeClr val="dk1"/>
              </a:solidFill>
            </a:endParaRPr>
          </a:p>
          <a:p>
            <a:r>
              <a:rPr lang="en" b="1" dirty="0">
                <a:solidFill>
                  <a:srgbClr val="000000"/>
                </a:solidFill>
              </a:rPr>
              <a:t>Database &amp; Storage: MySQL (SQL) </a:t>
            </a:r>
            <a:r>
              <a:rPr lang="en" dirty="0">
                <a:solidFill>
                  <a:srgbClr val="000000"/>
                </a:solidFill>
              </a:rPr>
              <a:t>– for storing users information.</a:t>
            </a:r>
          </a:p>
          <a:p>
            <a:r>
              <a:rPr lang="en" b="1" dirty="0">
                <a:solidFill>
                  <a:srgbClr val="000000"/>
                </a:solidFill>
              </a:rPr>
              <a:t>Deployment: AWS</a:t>
            </a:r>
            <a:r>
              <a:rPr lang="en" dirty="0">
                <a:solidFill>
                  <a:srgbClr val="000000"/>
                </a:solidFill>
              </a:rPr>
              <a:t> – hosting the backend and the databases in the cloud.</a:t>
            </a:r>
            <a:endParaRPr lang="en-IL" b="1" dirty="0"/>
          </a:p>
        </p:txBody>
      </p:sp>
      <p:sp>
        <p:nvSpPr>
          <p:cNvPr id="4" name="Slide Number Placeholder 3">
            <a:extLst>
              <a:ext uri="{FF2B5EF4-FFF2-40B4-BE49-F238E27FC236}">
                <a16:creationId xmlns:a16="http://schemas.microsoft.com/office/drawing/2014/main" id="{D8D9D1ED-28D9-BBE7-1D9A-1F30B228E6C8}"/>
              </a:ext>
            </a:extLst>
          </p:cNvPr>
          <p:cNvSpPr>
            <a:spLocks noGrp="1"/>
          </p:cNvSpPr>
          <p:nvPr>
            <p:ph type="sldNum" sz="quarter" idx="12"/>
          </p:nvPr>
        </p:nvSpPr>
        <p:spPr/>
        <p:txBody>
          <a:bodyPr/>
          <a:lstStyle/>
          <a:p>
            <a:fld id="{98B7615F-E33B-3848-BD22-4AC293A6C7B8}" type="slidenum">
              <a:rPr lang="en-IL" smtClean="0"/>
              <a:t>10</a:t>
            </a:fld>
            <a:endParaRPr lang="en-IL"/>
          </a:p>
        </p:txBody>
      </p:sp>
    </p:spTree>
    <p:extLst>
      <p:ext uri="{BB962C8B-B14F-4D97-AF65-F5344CB8AC3E}">
        <p14:creationId xmlns:p14="http://schemas.microsoft.com/office/powerpoint/2010/main" val="3544659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1D7CE-8BEF-21BA-0C8A-EB1F7B766A6F}"/>
              </a:ext>
            </a:extLst>
          </p:cNvPr>
          <p:cNvSpPr>
            <a:spLocks noGrp="1"/>
          </p:cNvSpPr>
          <p:nvPr>
            <p:ph type="title"/>
          </p:nvPr>
        </p:nvSpPr>
        <p:spPr/>
        <p:txBody>
          <a:bodyPr/>
          <a:lstStyle/>
          <a:p>
            <a:r>
              <a:rPr lang="en-IL" dirty="0">
                <a:solidFill>
                  <a:schemeClr val="accent4"/>
                </a:solidFill>
              </a:rPr>
              <a:t>Evaluation and Testing Plan</a:t>
            </a:r>
          </a:p>
        </p:txBody>
      </p:sp>
      <p:sp>
        <p:nvSpPr>
          <p:cNvPr id="3" name="Content Placeholder 2">
            <a:extLst>
              <a:ext uri="{FF2B5EF4-FFF2-40B4-BE49-F238E27FC236}">
                <a16:creationId xmlns:a16="http://schemas.microsoft.com/office/drawing/2014/main" id="{D5354B02-1837-6A38-6293-8F1E829B4AF4}"/>
              </a:ext>
            </a:extLst>
          </p:cNvPr>
          <p:cNvSpPr>
            <a:spLocks noGrp="1"/>
          </p:cNvSpPr>
          <p:nvPr>
            <p:ph idx="1"/>
          </p:nvPr>
        </p:nvSpPr>
        <p:spPr>
          <a:xfrm>
            <a:off x="838200" y="1825624"/>
            <a:ext cx="10866120" cy="4855591"/>
          </a:xfrm>
        </p:spPr>
        <p:txBody>
          <a:bodyPr>
            <a:normAutofit fontScale="92500" lnSpcReduction="10000"/>
          </a:bodyPr>
          <a:lstStyle/>
          <a:p>
            <a:r>
              <a:rPr lang="en-US" b="1" dirty="0"/>
              <a:t>Request &amp; offer flows:</a:t>
            </a:r>
            <a:r>
              <a:rPr lang="en-US" dirty="0"/>
              <a:t> We will validate add/update/cancel flows for ride requests and offers, ensuring that status updates (pending, accepted, completed, canceled) are correctly reflected for both drivers and riders. We will also test notification delivery (ride accepted, canceled, or updated).</a:t>
            </a:r>
          </a:p>
          <a:p>
            <a:r>
              <a:rPr lang="en-US" b="1" dirty="0"/>
              <a:t>Safety &amp; trust features:</a:t>
            </a:r>
            <a:r>
              <a:rPr lang="en-US" dirty="0"/>
              <a:t> We will verify that student authentication (e.g., university email or ID) works reliably, that ride details are only visible to authenticated users, and that reporting/blocking features function correctly. We will simulate misuse scenarios (fake requests, cancellations, spam) to evaluate system response.</a:t>
            </a:r>
          </a:p>
          <a:p>
            <a:r>
              <a:rPr lang="en-US" b="1" dirty="0"/>
              <a:t>Data &amp; analytics:</a:t>
            </a:r>
            <a:r>
              <a:rPr lang="en-US" dirty="0"/>
              <a:t> We will test usage analytics using controlled datasets, checking ride frequency, average occupancy, and most common routes. We will verify that trends are accurately displayed to admins (e.g., peak demand hours, popular pickup spots) and that data aggregation preserves user anonymity.</a:t>
            </a:r>
          </a:p>
        </p:txBody>
      </p:sp>
      <p:sp>
        <p:nvSpPr>
          <p:cNvPr id="4" name="Slide Number Placeholder 3">
            <a:extLst>
              <a:ext uri="{FF2B5EF4-FFF2-40B4-BE49-F238E27FC236}">
                <a16:creationId xmlns:a16="http://schemas.microsoft.com/office/drawing/2014/main" id="{DEEA05E9-37B0-4511-CCFD-C268736FA703}"/>
              </a:ext>
            </a:extLst>
          </p:cNvPr>
          <p:cNvSpPr>
            <a:spLocks noGrp="1"/>
          </p:cNvSpPr>
          <p:nvPr>
            <p:ph type="sldNum" sz="quarter" idx="12"/>
          </p:nvPr>
        </p:nvSpPr>
        <p:spPr/>
        <p:txBody>
          <a:bodyPr/>
          <a:lstStyle/>
          <a:p>
            <a:fld id="{98B7615F-E33B-3848-BD22-4AC293A6C7B8}" type="slidenum">
              <a:rPr lang="en-IL" smtClean="0"/>
              <a:t>11</a:t>
            </a:fld>
            <a:endParaRPr lang="en-IL"/>
          </a:p>
        </p:txBody>
      </p:sp>
    </p:spTree>
    <p:extLst>
      <p:ext uri="{BB962C8B-B14F-4D97-AF65-F5344CB8AC3E}">
        <p14:creationId xmlns:p14="http://schemas.microsoft.com/office/powerpoint/2010/main" val="1972198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08A0-98FE-2CB2-3A5F-22034FE526D0}"/>
              </a:ext>
            </a:extLst>
          </p:cNvPr>
          <p:cNvSpPr>
            <a:spLocks noGrp="1"/>
          </p:cNvSpPr>
          <p:nvPr>
            <p:ph type="title"/>
          </p:nvPr>
        </p:nvSpPr>
        <p:spPr/>
        <p:txBody>
          <a:bodyPr/>
          <a:lstStyle/>
          <a:p>
            <a:r>
              <a:rPr lang="en-IL" dirty="0">
                <a:solidFill>
                  <a:schemeClr val="accent4"/>
                </a:solidFill>
              </a:rPr>
              <a:t>Project’s Steps </a:t>
            </a:r>
            <a:r>
              <a:rPr lang="en-US" dirty="0">
                <a:solidFill>
                  <a:schemeClr val="accent4"/>
                </a:solidFill>
              </a:rPr>
              <a:t>– Semester A</a:t>
            </a:r>
            <a:endParaRPr lang="en-IL" dirty="0">
              <a:solidFill>
                <a:schemeClr val="accent4"/>
              </a:solidFill>
            </a:endParaRPr>
          </a:p>
        </p:txBody>
      </p:sp>
      <p:sp>
        <p:nvSpPr>
          <p:cNvPr id="3" name="Slide Number Placeholder 2">
            <a:extLst>
              <a:ext uri="{FF2B5EF4-FFF2-40B4-BE49-F238E27FC236}">
                <a16:creationId xmlns:a16="http://schemas.microsoft.com/office/drawing/2014/main" id="{7F75FDA2-DC4D-7E41-BFD5-D8C9AA875880}"/>
              </a:ext>
            </a:extLst>
          </p:cNvPr>
          <p:cNvSpPr>
            <a:spLocks noGrp="1"/>
          </p:cNvSpPr>
          <p:nvPr>
            <p:ph type="sldNum" sz="quarter" idx="12"/>
          </p:nvPr>
        </p:nvSpPr>
        <p:spPr/>
        <p:txBody>
          <a:bodyPr/>
          <a:lstStyle/>
          <a:p>
            <a:fld id="{98B7615F-E33B-3848-BD22-4AC293A6C7B8}" type="slidenum">
              <a:rPr lang="en-IL" smtClean="0"/>
              <a:t>12</a:t>
            </a:fld>
            <a:endParaRPr lang="en-IL"/>
          </a:p>
        </p:txBody>
      </p:sp>
      <p:pic>
        <p:nvPicPr>
          <p:cNvPr id="8" name="Content Placeholder 7">
            <a:extLst>
              <a:ext uri="{FF2B5EF4-FFF2-40B4-BE49-F238E27FC236}">
                <a16:creationId xmlns:a16="http://schemas.microsoft.com/office/drawing/2014/main" id="{22EB7B1F-ACC1-CE94-9B16-E71D72705320}"/>
              </a:ext>
            </a:extLst>
          </p:cNvPr>
          <p:cNvPicPr>
            <a:picLocks noGrp="1" noChangeAspect="1"/>
          </p:cNvPicPr>
          <p:nvPr>
            <p:ph idx="1"/>
          </p:nvPr>
        </p:nvPicPr>
        <p:blipFill>
          <a:blip r:embed="rId2"/>
          <a:stretch>
            <a:fillRect/>
          </a:stretch>
        </p:blipFill>
        <p:spPr>
          <a:xfrm>
            <a:off x="1628384" y="1916676"/>
            <a:ext cx="8079222" cy="3761213"/>
          </a:xfrm>
        </p:spPr>
      </p:pic>
    </p:spTree>
    <p:extLst>
      <p:ext uri="{BB962C8B-B14F-4D97-AF65-F5344CB8AC3E}">
        <p14:creationId xmlns:p14="http://schemas.microsoft.com/office/powerpoint/2010/main" val="4128900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6E388-993E-F7F1-EEFF-4245DD8D8BD7}"/>
              </a:ext>
            </a:extLst>
          </p:cNvPr>
          <p:cNvSpPr>
            <a:spLocks noGrp="1"/>
          </p:cNvSpPr>
          <p:nvPr>
            <p:ph type="title"/>
          </p:nvPr>
        </p:nvSpPr>
        <p:spPr/>
        <p:txBody>
          <a:bodyPr/>
          <a:lstStyle/>
          <a:p>
            <a:r>
              <a:rPr lang="en-IL" dirty="0">
                <a:solidFill>
                  <a:schemeClr val="accent4"/>
                </a:solidFill>
              </a:rPr>
              <a:t>Project’s Steps </a:t>
            </a:r>
            <a:r>
              <a:rPr lang="en-US" dirty="0">
                <a:solidFill>
                  <a:schemeClr val="accent4"/>
                </a:solidFill>
              </a:rPr>
              <a:t>– Semester B</a:t>
            </a:r>
            <a:endParaRPr lang="he-IL" dirty="0"/>
          </a:p>
        </p:txBody>
      </p:sp>
      <p:sp>
        <p:nvSpPr>
          <p:cNvPr id="3" name="Slide Number Placeholder 2">
            <a:extLst>
              <a:ext uri="{FF2B5EF4-FFF2-40B4-BE49-F238E27FC236}">
                <a16:creationId xmlns:a16="http://schemas.microsoft.com/office/drawing/2014/main" id="{E353CB91-3017-1062-5DCC-4C7976763182}"/>
              </a:ext>
            </a:extLst>
          </p:cNvPr>
          <p:cNvSpPr>
            <a:spLocks noGrp="1"/>
          </p:cNvSpPr>
          <p:nvPr>
            <p:ph type="sldNum" sz="quarter" idx="12"/>
          </p:nvPr>
        </p:nvSpPr>
        <p:spPr/>
        <p:txBody>
          <a:bodyPr/>
          <a:lstStyle/>
          <a:p>
            <a:fld id="{98B7615F-E33B-3848-BD22-4AC293A6C7B8}" type="slidenum">
              <a:rPr lang="en-IL" smtClean="0"/>
              <a:t>13</a:t>
            </a:fld>
            <a:endParaRPr lang="en-IL"/>
          </a:p>
        </p:txBody>
      </p:sp>
      <p:pic>
        <p:nvPicPr>
          <p:cNvPr id="7" name="Content Placeholder 6">
            <a:extLst>
              <a:ext uri="{FF2B5EF4-FFF2-40B4-BE49-F238E27FC236}">
                <a16:creationId xmlns:a16="http://schemas.microsoft.com/office/drawing/2014/main" id="{18744693-A745-A9D7-8515-D59DE0475A63}"/>
              </a:ext>
            </a:extLst>
          </p:cNvPr>
          <p:cNvPicPr>
            <a:picLocks noGrp="1" noChangeAspect="1"/>
          </p:cNvPicPr>
          <p:nvPr>
            <p:ph idx="1"/>
          </p:nvPr>
        </p:nvPicPr>
        <p:blipFill>
          <a:blip r:embed="rId2"/>
          <a:stretch>
            <a:fillRect/>
          </a:stretch>
        </p:blipFill>
        <p:spPr>
          <a:xfrm>
            <a:off x="1454780" y="1965227"/>
            <a:ext cx="8353099" cy="3825028"/>
          </a:xfrm>
        </p:spPr>
      </p:pic>
    </p:spTree>
    <p:extLst>
      <p:ext uri="{BB962C8B-B14F-4D97-AF65-F5344CB8AC3E}">
        <p14:creationId xmlns:p14="http://schemas.microsoft.com/office/powerpoint/2010/main" val="344891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1B6CA-A4B0-7F7C-389A-84D902EFF8E2}"/>
              </a:ext>
            </a:extLst>
          </p:cNvPr>
          <p:cNvSpPr>
            <a:spLocks noGrp="1"/>
          </p:cNvSpPr>
          <p:nvPr>
            <p:ph type="title"/>
          </p:nvPr>
        </p:nvSpPr>
        <p:spPr/>
        <p:txBody>
          <a:bodyPr/>
          <a:lstStyle/>
          <a:p>
            <a:r>
              <a:rPr lang="en-IL" dirty="0">
                <a:solidFill>
                  <a:schemeClr val="accent4"/>
                </a:solidFill>
              </a:rPr>
              <a:t>Project’s Steps and Timeline</a:t>
            </a:r>
            <a:endParaRPr lang="he-IL" dirty="0"/>
          </a:p>
        </p:txBody>
      </p:sp>
      <p:graphicFrame>
        <p:nvGraphicFramePr>
          <p:cNvPr id="5" name="Content Placeholder 4">
            <a:extLst>
              <a:ext uri="{FF2B5EF4-FFF2-40B4-BE49-F238E27FC236}">
                <a16:creationId xmlns:a16="http://schemas.microsoft.com/office/drawing/2014/main" id="{83811BD4-2214-3E84-EBA9-5076CCA8892A}"/>
              </a:ext>
            </a:extLst>
          </p:cNvPr>
          <p:cNvGraphicFramePr>
            <a:graphicFrameLocks noGrp="1"/>
          </p:cNvGraphicFramePr>
          <p:nvPr>
            <p:ph idx="1"/>
            <p:extLst>
              <p:ext uri="{D42A27DB-BD31-4B8C-83A1-F6EECF244321}">
                <p14:modId xmlns:p14="http://schemas.microsoft.com/office/powerpoint/2010/main" val="3970612505"/>
              </p:ext>
            </p:extLst>
          </p:nvPr>
        </p:nvGraphicFramePr>
        <p:xfrm>
          <a:off x="838200" y="1825625"/>
          <a:ext cx="11082687" cy="4948830"/>
        </p:xfrm>
        <a:graphic>
          <a:graphicData uri="http://schemas.openxmlformats.org/drawingml/2006/table">
            <a:tbl>
              <a:tblPr firstRow="1" bandRow="1">
                <a:tableStyleId>{5C22544A-7EE6-4342-B048-85BDC9FD1C3A}</a:tableStyleId>
              </a:tblPr>
              <a:tblGrid>
                <a:gridCol w="1130165">
                  <a:extLst>
                    <a:ext uri="{9D8B030D-6E8A-4147-A177-3AD203B41FA5}">
                      <a16:colId xmlns:a16="http://schemas.microsoft.com/office/drawing/2014/main" val="650791549"/>
                    </a:ext>
                  </a:extLst>
                </a:gridCol>
                <a:gridCol w="2829827">
                  <a:extLst>
                    <a:ext uri="{9D8B030D-6E8A-4147-A177-3AD203B41FA5}">
                      <a16:colId xmlns:a16="http://schemas.microsoft.com/office/drawing/2014/main" val="1988923134"/>
                    </a:ext>
                  </a:extLst>
                </a:gridCol>
                <a:gridCol w="7122695">
                  <a:extLst>
                    <a:ext uri="{9D8B030D-6E8A-4147-A177-3AD203B41FA5}">
                      <a16:colId xmlns:a16="http://schemas.microsoft.com/office/drawing/2014/main" val="4002298143"/>
                    </a:ext>
                  </a:extLst>
                </a:gridCol>
              </a:tblGrid>
              <a:tr h="469641">
                <a:tc>
                  <a:txBody>
                    <a:bodyPr/>
                    <a:lstStyle/>
                    <a:p>
                      <a:pPr algn="ctr"/>
                      <a:r>
                        <a:rPr lang="en-US" sz="2800" dirty="0"/>
                        <a:t>Week</a:t>
                      </a:r>
                      <a:endParaRPr lang="en-IL" sz="2800" dirty="0"/>
                    </a:p>
                  </a:txBody>
                  <a:tcPr/>
                </a:tc>
                <a:tc>
                  <a:txBody>
                    <a:bodyPr/>
                    <a:lstStyle/>
                    <a:p>
                      <a:pPr algn="ctr"/>
                      <a:r>
                        <a:rPr lang="en-US" sz="2800" dirty="0"/>
                        <a:t>Task</a:t>
                      </a:r>
                      <a:endParaRPr lang="en-IL" sz="2800" dirty="0"/>
                    </a:p>
                  </a:txBody>
                  <a:tcPr/>
                </a:tc>
                <a:tc>
                  <a:txBody>
                    <a:bodyPr/>
                    <a:lstStyle/>
                    <a:p>
                      <a:pPr algn="ctr"/>
                      <a:r>
                        <a:rPr lang="en-US" sz="2800" dirty="0"/>
                        <a:t>Description</a:t>
                      </a:r>
                      <a:endParaRPr lang="en-IL" sz="2800" dirty="0"/>
                    </a:p>
                  </a:txBody>
                  <a:tcPr/>
                </a:tc>
                <a:extLst>
                  <a:ext uri="{0D108BD9-81ED-4DB2-BD59-A6C34878D82A}">
                    <a16:rowId xmlns:a16="http://schemas.microsoft.com/office/drawing/2014/main" val="3613966887"/>
                  </a:ext>
                </a:extLst>
              </a:tr>
              <a:tr h="469641">
                <a:tc>
                  <a:txBody>
                    <a:bodyPr/>
                    <a:lstStyle/>
                    <a:p>
                      <a:r>
                        <a:rPr lang="he-IL" dirty="0"/>
                        <a:t>1</a:t>
                      </a:r>
                      <a:endParaRPr lang="en-IL" dirty="0"/>
                    </a:p>
                  </a:txBody>
                  <a:tcPr/>
                </a:tc>
                <a:tc>
                  <a:txBody>
                    <a:bodyPr/>
                    <a:lstStyle/>
                    <a:p>
                      <a:r>
                        <a:rPr lang="en-US" dirty="0"/>
                        <a:t>Specification and Planning</a:t>
                      </a:r>
                      <a:endParaRPr lang="en-IL" dirty="0"/>
                    </a:p>
                  </a:txBody>
                  <a:tcPr/>
                </a:tc>
                <a:tc>
                  <a:txBody>
                    <a:bodyPr/>
                    <a:lstStyle/>
                    <a:p>
                      <a:r>
                        <a:rPr lang="en-US" dirty="0"/>
                        <a:t>Requirements documents + Use cases.</a:t>
                      </a:r>
                      <a:endParaRPr lang="en-IL" dirty="0"/>
                    </a:p>
                  </a:txBody>
                  <a:tcPr/>
                </a:tc>
                <a:extLst>
                  <a:ext uri="{0D108BD9-81ED-4DB2-BD59-A6C34878D82A}">
                    <a16:rowId xmlns:a16="http://schemas.microsoft.com/office/drawing/2014/main" val="3104967307"/>
                  </a:ext>
                </a:extLst>
              </a:tr>
              <a:tr h="1271946">
                <a:tc>
                  <a:txBody>
                    <a:bodyPr/>
                    <a:lstStyle/>
                    <a:p>
                      <a:r>
                        <a:rPr lang="he-IL" dirty="0"/>
                        <a:t>2-4</a:t>
                      </a:r>
                      <a:endParaRPr lang="en-IL" dirty="0"/>
                    </a:p>
                  </a:txBody>
                  <a:tcPr/>
                </a:tc>
                <a:tc>
                  <a:txBody>
                    <a:bodyPr/>
                    <a:lstStyle/>
                    <a:p>
                      <a:r>
                        <a:rPr lang="en-US" dirty="0"/>
                        <a:t>Basic Backend</a:t>
                      </a:r>
                      <a:endParaRPr lang="en-IL" dirty="0"/>
                    </a:p>
                  </a:txBody>
                  <a:tcPr/>
                </a:tc>
                <a:tc>
                  <a:txBody>
                    <a:bodyPr/>
                    <a:lstStyle/>
                    <a:p>
                      <a:r>
                        <a:rPr lang="en-US" dirty="0"/>
                        <a:t>SQL DB: Users, Rides. User management (CRUD).</a:t>
                      </a:r>
                    </a:p>
                    <a:p>
                      <a:r>
                        <a:rPr lang="en-US" dirty="0"/>
                        <a:t>Manual Ride addition, deletion and updates.</a:t>
                      </a:r>
                    </a:p>
                    <a:p>
                      <a:r>
                        <a:rPr lang="en-US" dirty="0"/>
                        <a:t>Implement users profiles and ratings.</a:t>
                      </a:r>
                    </a:p>
                    <a:p>
                      <a:endParaRPr lang="en-US" dirty="0"/>
                    </a:p>
                  </a:txBody>
                  <a:tcPr/>
                </a:tc>
                <a:extLst>
                  <a:ext uri="{0D108BD9-81ED-4DB2-BD59-A6C34878D82A}">
                    <a16:rowId xmlns:a16="http://schemas.microsoft.com/office/drawing/2014/main" val="954837246"/>
                  </a:ext>
                </a:extLst>
              </a:tr>
              <a:tr h="469641">
                <a:tc>
                  <a:txBody>
                    <a:bodyPr/>
                    <a:lstStyle/>
                    <a:p>
                      <a:r>
                        <a:rPr lang="en-US" dirty="0"/>
                        <a:t>5-7</a:t>
                      </a:r>
                      <a:endParaRPr lang="en-IL" dirty="0"/>
                    </a:p>
                  </a:txBody>
                  <a:tcPr/>
                </a:tc>
                <a:tc>
                  <a:txBody>
                    <a:bodyPr/>
                    <a:lstStyle/>
                    <a:p>
                      <a:r>
                        <a:rPr lang="en-US" dirty="0"/>
                        <a:t>Basic Frontend</a:t>
                      </a:r>
                      <a:endParaRPr lang="en-IL" dirty="0"/>
                    </a:p>
                  </a:txBody>
                  <a:tcPr/>
                </a:tc>
                <a:tc>
                  <a:txBody>
                    <a:bodyPr/>
                    <a:lstStyle/>
                    <a:p>
                      <a:r>
                        <a:rPr lang="en-US" dirty="0"/>
                        <a:t>Creating the screens.</a:t>
                      </a:r>
                      <a:endParaRPr lang="en-IL" dirty="0"/>
                    </a:p>
                  </a:txBody>
                  <a:tcPr/>
                </a:tc>
                <a:extLst>
                  <a:ext uri="{0D108BD9-81ED-4DB2-BD59-A6C34878D82A}">
                    <a16:rowId xmlns:a16="http://schemas.microsoft.com/office/drawing/2014/main" val="2678523210"/>
                  </a:ext>
                </a:extLst>
              </a:tr>
              <a:tr h="469641">
                <a:tc>
                  <a:txBody>
                    <a:bodyPr/>
                    <a:lstStyle/>
                    <a:p>
                      <a:r>
                        <a:rPr lang="en-US" dirty="0"/>
                        <a:t>8-9</a:t>
                      </a:r>
                      <a:endParaRPr lang="en-IL" dirty="0"/>
                    </a:p>
                  </a:txBody>
                  <a:tcPr/>
                </a:tc>
                <a:tc>
                  <a:txBody>
                    <a:bodyPr/>
                    <a:lstStyle/>
                    <a:p>
                      <a:r>
                        <a:rPr lang="en-US" dirty="0"/>
                        <a:t>Basic Notifications</a:t>
                      </a:r>
                      <a:endParaRPr lang="en-IL" dirty="0"/>
                    </a:p>
                  </a:txBody>
                  <a:tcPr/>
                </a:tc>
                <a:tc>
                  <a:txBody>
                    <a:bodyPr/>
                    <a:lstStyle/>
                    <a:p>
                      <a:r>
                        <a:rPr lang="en-US" dirty="0"/>
                        <a:t>Notification when a ride a user scheduled is due or when a new relevant ride is available.</a:t>
                      </a:r>
                      <a:endParaRPr lang="en-IL" dirty="0"/>
                    </a:p>
                  </a:txBody>
                  <a:tcPr/>
                </a:tc>
                <a:extLst>
                  <a:ext uri="{0D108BD9-81ED-4DB2-BD59-A6C34878D82A}">
                    <a16:rowId xmlns:a16="http://schemas.microsoft.com/office/drawing/2014/main" val="149910221"/>
                  </a:ext>
                </a:extLst>
              </a:tr>
              <a:tr h="469641">
                <a:tc>
                  <a:txBody>
                    <a:bodyPr/>
                    <a:lstStyle/>
                    <a:p>
                      <a:r>
                        <a:rPr lang="en-US" dirty="0"/>
                        <a:t>9-10</a:t>
                      </a:r>
                      <a:endParaRPr lang="en-IL" dirty="0"/>
                    </a:p>
                  </a:txBody>
                  <a:tcPr/>
                </a:tc>
                <a:tc>
                  <a:txBody>
                    <a:bodyPr/>
                    <a:lstStyle/>
                    <a:p>
                      <a:r>
                        <a:rPr lang="en-US" dirty="0"/>
                        <a:t>Multi-user</a:t>
                      </a:r>
                      <a:endParaRPr lang="en-IL" dirty="0"/>
                    </a:p>
                  </a:txBody>
                  <a:tcPr/>
                </a:tc>
                <a:tc>
                  <a:txBody>
                    <a:bodyPr/>
                    <a:lstStyle/>
                    <a:p>
                      <a:r>
                        <a:rPr lang="en-US" dirty="0"/>
                        <a:t>Synchronization between users.</a:t>
                      </a:r>
                      <a:endParaRPr lang="en-IL" dirty="0"/>
                    </a:p>
                  </a:txBody>
                  <a:tcPr/>
                </a:tc>
                <a:extLst>
                  <a:ext uri="{0D108BD9-81ED-4DB2-BD59-A6C34878D82A}">
                    <a16:rowId xmlns:a16="http://schemas.microsoft.com/office/drawing/2014/main" val="3685566787"/>
                  </a:ext>
                </a:extLst>
              </a:tr>
              <a:tr h="469641">
                <a:tc>
                  <a:txBody>
                    <a:bodyPr/>
                    <a:lstStyle/>
                    <a:p>
                      <a:r>
                        <a:rPr lang="en-US" dirty="0"/>
                        <a:t>11</a:t>
                      </a:r>
                      <a:endParaRPr lang="en-IL" dirty="0"/>
                    </a:p>
                  </a:txBody>
                  <a:tcPr/>
                </a:tc>
                <a:tc>
                  <a:txBody>
                    <a:bodyPr/>
                    <a:lstStyle/>
                    <a:p>
                      <a:r>
                        <a:rPr lang="en-US" dirty="0"/>
                        <a:t>Basic UX Improvements</a:t>
                      </a:r>
                    </a:p>
                  </a:txBody>
                  <a:tcPr/>
                </a:tc>
                <a:tc>
                  <a:txBody>
                    <a:bodyPr/>
                    <a:lstStyle/>
                    <a:p>
                      <a:r>
                        <a:rPr lang="en-US" dirty="0"/>
                        <a:t>Simple, clean, user-friendly design.</a:t>
                      </a:r>
                    </a:p>
                    <a:p>
                      <a:r>
                        <a:rPr lang="en-US" dirty="0"/>
                        <a:t>Navigation between screens.</a:t>
                      </a:r>
                    </a:p>
                  </a:txBody>
                  <a:tcPr/>
                </a:tc>
                <a:extLst>
                  <a:ext uri="{0D108BD9-81ED-4DB2-BD59-A6C34878D82A}">
                    <a16:rowId xmlns:a16="http://schemas.microsoft.com/office/drawing/2014/main" val="938946079"/>
                  </a:ext>
                </a:extLst>
              </a:tr>
              <a:tr h="469641">
                <a:tc>
                  <a:txBody>
                    <a:bodyPr/>
                    <a:lstStyle/>
                    <a:p>
                      <a:r>
                        <a:rPr lang="en-US" dirty="0"/>
                        <a:t>12-13</a:t>
                      </a:r>
                      <a:endParaRPr lang="en-IL" dirty="0"/>
                    </a:p>
                  </a:txBody>
                  <a:tcPr/>
                </a:tc>
                <a:tc>
                  <a:txBody>
                    <a:bodyPr/>
                    <a:lstStyle/>
                    <a:p>
                      <a:r>
                        <a:rPr lang="en-US" dirty="0"/>
                        <a:t>End of semester A</a:t>
                      </a:r>
                    </a:p>
                  </a:txBody>
                  <a:tcPr/>
                </a:tc>
                <a:tc>
                  <a:txBody>
                    <a:bodyPr/>
                    <a:lstStyle/>
                    <a:p>
                      <a:r>
                        <a:rPr lang="en-US" dirty="0"/>
                        <a:t>Full integration and release of </a:t>
                      </a:r>
                      <a:r>
                        <a:rPr lang="en-US"/>
                        <a:t>Alpha version.</a:t>
                      </a:r>
                      <a:endParaRPr lang="en-US" dirty="0"/>
                    </a:p>
                  </a:txBody>
                  <a:tcPr/>
                </a:tc>
                <a:extLst>
                  <a:ext uri="{0D108BD9-81ED-4DB2-BD59-A6C34878D82A}">
                    <a16:rowId xmlns:a16="http://schemas.microsoft.com/office/drawing/2014/main" val="1428916502"/>
                  </a:ext>
                </a:extLst>
              </a:tr>
            </a:tbl>
          </a:graphicData>
        </a:graphic>
      </p:graphicFrame>
      <p:sp>
        <p:nvSpPr>
          <p:cNvPr id="4" name="Slide Number Placeholder 3">
            <a:extLst>
              <a:ext uri="{FF2B5EF4-FFF2-40B4-BE49-F238E27FC236}">
                <a16:creationId xmlns:a16="http://schemas.microsoft.com/office/drawing/2014/main" id="{38AB55AC-C927-8D63-715B-F730055C24C0}"/>
              </a:ext>
            </a:extLst>
          </p:cNvPr>
          <p:cNvSpPr>
            <a:spLocks noGrp="1"/>
          </p:cNvSpPr>
          <p:nvPr>
            <p:ph type="sldNum" sz="quarter" idx="12"/>
          </p:nvPr>
        </p:nvSpPr>
        <p:spPr/>
        <p:txBody>
          <a:bodyPr/>
          <a:lstStyle/>
          <a:p>
            <a:fld id="{98B7615F-E33B-3848-BD22-4AC293A6C7B8}" type="slidenum">
              <a:rPr lang="en-IL" smtClean="0"/>
              <a:t>14</a:t>
            </a:fld>
            <a:endParaRPr lang="en-IL"/>
          </a:p>
        </p:txBody>
      </p:sp>
    </p:spTree>
    <p:extLst>
      <p:ext uri="{BB962C8B-B14F-4D97-AF65-F5344CB8AC3E}">
        <p14:creationId xmlns:p14="http://schemas.microsoft.com/office/powerpoint/2010/main" val="24066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1174-448E-56E7-7273-98AA47C4BDB4}"/>
              </a:ext>
            </a:extLst>
          </p:cNvPr>
          <p:cNvSpPr>
            <a:spLocks noGrp="1"/>
          </p:cNvSpPr>
          <p:nvPr>
            <p:ph type="title"/>
          </p:nvPr>
        </p:nvSpPr>
        <p:spPr/>
        <p:txBody>
          <a:bodyPr/>
          <a:lstStyle/>
          <a:p>
            <a:r>
              <a:rPr lang="en-IL" dirty="0">
                <a:solidFill>
                  <a:schemeClr val="accent4"/>
                </a:solidFill>
              </a:rPr>
              <a:t>Project’s Steps and Timeline</a:t>
            </a:r>
            <a:endParaRPr lang="he-IL" dirty="0"/>
          </a:p>
        </p:txBody>
      </p:sp>
      <p:graphicFrame>
        <p:nvGraphicFramePr>
          <p:cNvPr id="7" name="Content Placeholder 6">
            <a:extLst>
              <a:ext uri="{FF2B5EF4-FFF2-40B4-BE49-F238E27FC236}">
                <a16:creationId xmlns:a16="http://schemas.microsoft.com/office/drawing/2014/main" id="{93EE0F79-2496-78F9-F82F-E3E8A92AADF4}"/>
              </a:ext>
            </a:extLst>
          </p:cNvPr>
          <p:cNvGraphicFramePr>
            <a:graphicFrameLocks noGrp="1"/>
          </p:cNvGraphicFramePr>
          <p:nvPr>
            <p:ph idx="1"/>
            <p:extLst>
              <p:ext uri="{D42A27DB-BD31-4B8C-83A1-F6EECF244321}">
                <p14:modId xmlns:p14="http://schemas.microsoft.com/office/powerpoint/2010/main" val="2864171527"/>
              </p:ext>
            </p:extLst>
          </p:nvPr>
        </p:nvGraphicFramePr>
        <p:xfrm>
          <a:off x="838200" y="1825625"/>
          <a:ext cx="10622277" cy="4050487"/>
        </p:xfrm>
        <a:graphic>
          <a:graphicData uri="http://schemas.openxmlformats.org/drawingml/2006/table">
            <a:tbl>
              <a:tblPr firstRow="1" bandRow="1">
                <a:tableStyleId>{5C22544A-7EE6-4342-B048-85BDC9FD1C3A}</a:tableStyleId>
              </a:tblPr>
              <a:tblGrid>
                <a:gridCol w="1078026">
                  <a:extLst>
                    <a:ext uri="{9D8B030D-6E8A-4147-A177-3AD203B41FA5}">
                      <a16:colId xmlns:a16="http://schemas.microsoft.com/office/drawing/2014/main" val="35296934"/>
                    </a:ext>
                  </a:extLst>
                </a:gridCol>
                <a:gridCol w="3041587">
                  <a:extLst>
                    <a:ext uri="{9D8B030D-6E8A-4147-A177-3AD203B41FA5}">
                      <a16:colId xmlns:a16="http://schemas.microsoft.com/office/drawing/2014/main" val="747172038"/>
                    </a:ext>
                  </a:extLst>
                </a:gridCol>
                <a:gridCol w="6502664">
                  <a:extLst>
                    <a:ext uri="{9D8B030D-6E8A-4147-A177-3AD203B41FA5}">
                      <a16:colId xmlns:a16="http://schemas.microsoft.com/office/drawing/2014/main" val="378611605"/>
                    </a:ext>
                  </a:extLst>
                </a:gridCol>
              </a:tblGrid>
              <a:tr h="600472">
                <a:tc>
                  <a:txBody>
                    <a:bodyPr/>
                    <a:lstStyle/>
                    <a:p>
                      <a:pPr algn="ctr"/>
                      <a:r>
                        <a:rPr lang="en-US" sz="2800" dirty="0"/>
                        <a:t>Week</a:t>
                      </a:r>
                      <a:endParaRPr lang="en-IL" sz="2800" dirty="0"/>
                    </a:p>
                  </a:txBody>
                  <a:tcPr/>
                </a:tc>
                <a:tc>
                  <a:txBody>
                    <a:bodyPr/>
                    <a:lstStyle/>
                    <a:p>
                      <a:pPr algn="ctr"/>
                      <a:r>
                        <a:rPr lang="en-US" sz="2800" dirty="0"/>
                        <a:t>Task</a:t>
                      </a:r>
                      <a:endParaRPr lang="en-IL" sz="2800" dirty="0"/>
                    </a:p>
                  </a:txBody>
                  <a:tcPr/>
                </a:tc>
                <a:tc>
                  <a:txBody>
                    <a:bodyPr/>
                    <a:lstStyle/>
                    <a:p>
                      <a:pPr algn="ctr"/>
                      <a:r>
                        <a:rPr lang="en-US" sz="3200" dirty="0"/>
                        <a:t>Description</a:t>
                      </a:r>
                      <a:endParaRPr lang="en-IL" sz="3200" dirty="0"/>
                    </a:p>
                  </a:txBody>
                  <a:tcPr/>
                </a:tc>
                <a:extLst>
                  <a:ext uri="{0D108BD9-81ED-4DB2-BD59-A6C34878D82A}">
                    <a16:rowId xmlns:a16="http://schemas.microsoft.com/office/drawing/2014/main" val="2862145528"/>
                  </a:ext>
                </a:extLst>
              </a:tr>
              <a:tr h="600472">
                <a:tc>
                  <a:txBody>
                    <a:bodyPr/>
                    <a:lstStyle/>
                    <a:p>
                      <a:r>
                        <a:rPr lang="en-US" dirty="0"/>
                        <a:t>1-4</a:t>
                      </a:r>
                      <a:endParaRPr lang="en-IL" dirty="0"/>
                    </a:p>
                  </a:txBody>
                  <a:tcPr/>
                </a:tc>
                <a:tc>
                  <a:txBody>
                    <a:bodyPr/>
                    <a:lstStyle/>
                    <a:p>
                      <a:r>
                        <a:rPr lang="en-US" dirty="0"/>
                        <a:t>Real time GPS tracking.</a:t>
                      </a:r>
                      <a:endParaRPr lang="en-IL" dirty="0"/>
                    </a:p>
                  </a:txBody>
                  <a:tcPr/>
                </a:tc>
                <a:tc>
                  <a:txBody>
                    <a:bodyPr/>
                    <a:lstStyle/>
                    <a:p>
                      <a:r>
                        <a:rPr lang="en-US" dirty="0"/>
                        <a:t>Integrate Google Maps SDK.</a:t>
                      </a:r>
                    </a:p>
                    <a:p>
                      <a:r>
                        <a:rPr lang="en-US" dirty="0"/>
                        <a:t>Flow: Using the library, get the location of the user and display it in real time.</a:t>
                      </a:r>
                    </a:p>
                    <a:p>
                      <a:r>
                        <a:rPr lang="en-US" dirty="0"/>
                        <a:t>Fallback: Show the user’s last known location.</a:t>
                      </a:r>
                    </a:p>
                  </a:txBody>
                  <a:tcPr/>
                </a:tc>
                <a:extLst>
                  <a:ext uri="{0D108BD9-81ED-4DB2-BD59-A6C34878D82A}">
                    <a16:rowId xmlns:a16="http://schemas.microsoft.com/office/drawing/2014/main" val="2909362664"/>
                  </a:ext>
                </a:extLst>
              </a:tr>
              <a:tr h="600472">
                <a:tc>
                  <a:txBody>
                    <a:bodyPr/>
                    <a:lstStyle/>
                    <a:p>
                      <a:r>
                        <a:rPr lang="en-US" dirty="0"/>
                        <a:t>5-7</a:t>
                      </a:r>
                      <a:endParaRPr lang="en-IL" dirty="0"/>
                    </a:p>
                  </a:txBody>
                  <a:tcPr/>
                </a:tc>
                <a:tc>
                  <a:txBody>
                    <a:bodyPr/>
                    <a:lstStyle/>
                    <a:p>
                      <a:r>
                        <a:rPr lang="en-US" dirty="0"/>
                        <a:t>Real-time Multi-user</a:t>
                      </a:r>
                      <a:endParaRPr lang="en-IL" dirty="0"/>
                    </a:p>
                  </a:txBody>
                  <a:tcPr/>
                </a:tc>
                <a:tc>
                  <a:txBody>
                    <a:bodyPr/>
                    <a:lstStyle/>
                    <a:p>
                      <a:r>
                        <a:rPr lang="en-US" dirty="0"/>
                        <a:t>Transition from "manual" sync to real-time synchronization</a:t>
                      </a:r>
                    </a:p>
                    <a:p>
                      <a:r>
                        <a:rPr lang="en-US" dirty="0"/>
                        <a:t>Test scenarios with simultaneous updates.</a:t>
                      </a:r>
                    </a:p>
                  </a:txBody>
                  <a:tcPr/>
                </a:tc>
                <a:extLst>
                  <a:ext uri="{0D108BD9-81ED-4DB2-BD59-A6C34878D82A}">
                    <a16:rowId xmlns:a16="http://schemas.microsoft.com/office/drawing/2014/main" val="281858087"/>
                  </a:ext>
                </a:extLst>
              </a:tr>
              <a:tr h="600472">
                <a:tc>
                  <a:txBody>
                    <a:bodyPr/>
                    <a:lstStyle/>
                    <a:p>
                      <a:r>
                        <a:rPr lang="en-US" dirty="0"/>
                        <a:t>8-10</a:t>
                      </a:r>
                      <a:endParaRPr lang="en-IL" dirty="0"/>
                    </a:p>
                  </a:txBody>
                  <a:tcPr/>
                </a:tc>
                <a:tc>
                  <a:txBody>
                    <a:bodyPr/>
                    <a:lstStyle/>
                    <a:p>
                      <a:r>
                        <a:rPr lang="en-US" dirty="0"/>
                        <a:t>Deployment in AWS</a:t>
                      </a:r>
                      <a:endParaRPr lang="en-IL" dirty="0"/>
                    </a:p>
                  </a:txBody>
                  <a:tcPr/>
                </a:tc>
                <a:tc>
                  <a:txBody>
                    <a:bodyPr/>
                    <a:lstStyle/>
                    <a:p>
                      <a:r>
                        <a:rPr lang="en-US" dirty="0"/>
                        <a:t>Deploy the app to production using AWS.</a:t>
                      </a:r>
                    </a:p>
                  </a:txBody>
                  <a:tcPr/>
                </a:tc>
                <a:extLst>
                  <a:ext uri="{0D108BD9-81ED-4DB2-BD59-A6C34878D82A}">
                    <a16:rowId xmlns:a16="http://schemas.microsoft.com/office/drawing/2014/main" val="3926590978"/>
                  </a:ext>
                </a:extLst>
              </a:tr>
              <a:tr h="420271">
                <a:tc>
                  <a:txBody>
                    <a:bodyPr/>
                    <a:lstStyle/>
                    <a:p>
                      <a:r>
                        <a:rPr lang="en-US" dirty="0"/>
                        <a:t>11-13</a:t>
                      </a:r>
                      <a:endParaRPr lang="en-IL" dirty="0"/>
                    </a:p>
                  </a:txBody>
                  <a:tcPr/>
                </a:tc>
                <a:tc>
                  <a:txBody>
                    <a:bodyPr/>
                    <a:lstStyle/>
                    <a:p>
                      <a:r>
                        <a:rPr lang="en-US" dirty="0"/>
                        <a:t>Testing and Quality Assurance</a:t>
                      </a:r>
                      <a:endParaRPr lang="en-IL" dirty="0"/>
                    </a:p>
                  </a:txBody>
                  <a:tcPr/>
                </a:tc>
                <a:tc>
                  <a:txBody>
                    <a:bodyPr/>
                    <a:lstStyle/>
                    <a:p>
                      <a:r>
                        <a:rPr lang="en-US" dirty="0"/>
                        <a:t>Unit and integration tests.</a:t>
                      </a:r>
                      <a:endParaRPr lang="en-IL" dirty="0"/>
                    </a:p>
                  </a:txBody>
                  <a:tcPr/>
                </a:tc>
                <a:extLst>
                  <a:ext uri="{0D108BD9-81ED-4DB2-BD59-A6C34878D82A}">
                    <a16:rowId xmlns:a16="http://schemas.microsoft.com/office/drawing/2014/main" val="230108231"/>
                  </a:ext>
                </a:extLst>
              </a:tr>
              <a:tr h="600472">
                <a:tc>
                  <a:txBody>
                    <a:bodyPr/>
                    <a:lstStyle/>
                    <a:p>
                      <a:r>
                        <a:rPr lang="en-US" dirty="0"/>
                        <a:t>14</a:t>
                      </a:r>
                      <a:endParaRPr lang="en-IL" dirty="0"/>
                    </a:p>
                  </a:txBody>
                  <a:tcPr/>
                </a:tc>
                <a:tc>
                  <a:txBody>
                    <a:bodyPr/>
                    <a:lstStyle/>
                    <a:p>
                      <a:r>
                        <a:rPr lang="en-US" dirty="0"/>
                        <a:t>End of semester B</a:t>
                      </a:r>
                      <a:endParaRPr lang="en-IL" dirty="0"/>
                    </a:p>
                  </a:txBody>
                  <a:tcPr/>
                </a:tc>
                <a:tc>
                  <a:txBody>
                    <a:bodyPr/>
                    <a:lstStyle/>
                    <a:p>
                      <a:r>
                        <a:rPr lang="en-US" dirty="0"/>
                        <a:t>Full integration, and final presentation.</a:t>
                      </a:r>
                      <a:endParaRPr lang="en-IL" dirty="0"/>
                    </a:p>
                  </a:txBody>
                  <a:tcPr/>
                </a:tc>
                <a:extLst>
                  <a:ext uri="{0D108BD9-81ED-4DB2-BD59-A6C34878D82A}">
                    <a16:rowId xmlns:a16="http://schemas.microsoft.com/office/drawing/2014/main" val="1669207109"/>
                  </a:ext>
                </a:extLst>
              </a:tr>
            </a:tbl>
          </a:graphicData>
        </a:graphic>
      </p:graphicFrame>
      <p:sp>
        <p:nvSpPr>
          <p:cNvPr id="4" name="Slide Number Placeholder 3">
            <a:extLst>
              <a:ext uri="{FF2B5EF4-FFF2-40B4-BE49-F238E27FC236}">
                <a16:creationId xmlns:a16="http://schemas.microsoft.com/office/drawing/2014/main" id="{0A6C9329-359F-3138-9803-A3A5969231FE}"/>
              </a:ext>
            </a:extLst>
          </p:cNvPr>
          <p:cNvSpPr>
            <a:spLocks noGrp="1"/>
          </p:cNvSpPr>
          <p:nvPr>
            <p:ph type="sldNum" sz="quarter" idx="12"/>
          </p:nvPr>
        </p:nvSpPr>
        <p:spPr/>
        <p:txBody>
          <a:bodyPr/>
          <a:lstStyle/>
          <a:p>
            <a:fld id="{98B7615F-E33B-3848-BD22-4AC293A6C7B8}" type="slidenum">
              <a:rPr lang="en-IL" smtClean="0"/>
              <a:t>15</a:t>
            </a:fld>
            <a:endParaRPr lang="en-IL"/>
          </a:p>
        </p:txBody>
      </p:sp>
    </p:spTree>
    <p:extLst>
      <p:ext uri="{BB962C8B-B14F-4D97-AF65-F5344CB8AC3E}">
        <p14:creationId xmlns:p14="http://schemas.microsoft.com/office/powerpoint/2010/main" val="24343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DE0A11EB3B96B4EA1F6112982CB841C" ma:contentTypeVersion="7" ma:contentTypeDescription="Create a new document." ma:contentTypeScope="" ma:versionID="e55300c421777a30e1ea84cbdc0e928b">
  <xsd:schema xmlns:xsd="http://www.w3.org/2001/XMLSchema" xmlns:xs="http://www.w3.org/2001/XMLSchema" xmlns:p="http://schemas.microsoft.com/office/2006/metadata/properties" xmlns:ns2="58884f19-581f-4382-94d3-a8a205fc1a92" targetNamespace="http://schemas.microsoft.com/office/2006/metadata/properties" ma:root="true" ma:fieldsID="3491acee97bb5a6744ea062d1a2465e1" ns2:_="">
    <xsd:import namespace="58884f19-581f-4382-94d3-a8a205fc1a9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884f19-581f-4382-94d3-a8a205fc1a9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C0DF0C-2EF4-4D84-B86F-79CEF281A0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884f19-581f-4382-94d3-a8a205fc1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5FA8D5-1AAF-4F99-BB9A-04B28B14271C}">
  <ds:schemaRefs>
    <ds:schemaRef ds:uri="http://schemas.microsoft.com/office/2006/documentManagement/types"/>
    <ds:schemaRef ds:uri="http://purl.org/dc/dcmitype/"/>
    <ds:schemaRef ds:uri="58884f19-581f-4382-94d3-a8a205fc1a92"/>
    <ds:schemaRef ds:uri="http://purl.org/dc/elements/1.1/"/>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0D25D58D-F321-4831-AECD-29C9810E655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3282</TotalTime>
  <Words>992</Words>
  <Application>Microsoft Office PowerPoint</Application>
  <PresentationFormat>Widescreen</PresentationFormat>
  <Paragraphs>166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-webkit-standard</vt:lpstr>
      <vt:lpstr>Office Theme</vt:lpstr>
      <vt:lpstr>Trempim - PROPOSAL  Avikam Levi, Eitan Dubinski, Tal Ginzburg, Daniel Shamir</vt:lpstr>
      <vt:lpstr>Hitch</vt:lpstr>
      <vt:lpstr>Customer</vt:lpstr>
      <vt:lpstr>Introduction</vt:lpstr>
      <vt:lpstr>Project’s Motivation and Purpose</vt:lpstr>
      <vt:lpstr>Project Description</vt:lpstr>
      <vt:lpstr>Customer – what exists? What provides?</vt:lpstr>
      <vt:lpstr>Project’s Risk Assesment  (and how to overcome)</vt:lpstr>
      <vt:lpstr>User Interface</vt:lpstr>
      <vt:lpstr>Project’s Environments and Langugaes</vt:lpstr>
      <vt:lpstr>Evaluation and Testing Plan</vt:lpstr>
      <vt:lpstr>Project’s Steps – Semester A</vt:lpstr>
      <vt:lpstr>Project’s Steps – Semester B</vt:lpstr>
      <vt:lpstr>Project’s Steps and Timeline</vt:lpstr>
      <vt:lpstr>Project’s Steps and 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רוברט מושקוביץ'</dc:creator>
  <cp:lastModifiedBy>איתן דובינסקי</cp:lastModifiedBy>
  <cp:revision>18</cp:revision>
  <dcterms:created xsi:type="dcterms:W3CDTF">2023-06-18T12:05:44Z</dcterms:created>
  <dcterms:modified xsi:type="dcterms:W3CDTF">2025-10-09T09:05:58Z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0x0101003DE0A11EB3B96B4EA1F6112982CB841C</vt:lpwstr>
  </property>
  <property fmtid="{D5CDD505-2E9C-101B-9397-08002B2CF9AE}" pid="3" name="MediaServiceImageTags">
    <vt:lpwstr/>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